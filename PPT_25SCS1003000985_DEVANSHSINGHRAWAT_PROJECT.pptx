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016500"/>
  <p:notesSz cx="9144000" cy="501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89241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09240"/>
            <a:ext cx="6400800" cy="1254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53795"/>
            <a:ext cx="3977640" cy="3310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53795"/>
            <a:ext cx="3977640" cy="3310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48" y="4967728"/>
            <a:ext cx="9095176" cy="4180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7390" y="4891203"/>
            <a:ext cx="8956040" cy="0"/>
          </a:xfrm>
          <a:custGeom>
            <a:avLst/>
            <a:gdLst/>
            <a:ahLst/>
            <a:cxnLst/>
            <a:rect l="l" t="t" r="r" b="b"/>
            <a:pathLst>
              <a:path w="8956040" h="0">
                <a:moveTo>
                  <a:pt x="0" y="0"/>
                </a:moveTo>
                <a:lnTo>
                  <a:pt x="8955442" y="0"/>
                </a:lnTo>
              </a:path>
            </a:pathLst>
          </a:custGeom>
          <a:ln w="69441">
            <a:solidFill>
              <a:srgbClr val="B1B1B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0773" y="228600"/>
            <a:ext cx="4027561" cy="7483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600" y="940646"/>
            <a:ext cx="4318635" cy="1038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665345"/>
            <a:ext cx="292608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665345"/>
            <a:ext cx="210312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665345"/>
            <a:ext cx="210312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19.jp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0"/>
              <a:t>Multilingual</a:t>
            </a:r>
            <a:r>
              <a:rPr dirty="0" sz="2200" spc="-440"/>
              <a:t> </a:t>
            </a:r>
            <a:r>
              <a:rPr dirty="0" sz="2500"/>
              <a:t>Aspect-Based</a:t>
            </a:r>
            <a:r>
              <a:rPr dirty="0" sz="2500" spc="250"/>
              <a:t> </a:t>
            </a:r>
            <a:r>
              <a:rPr dirty="0" sz="2700" spc="-10"/>
              <a:t>Sentiment</a:t>
            </a:r>
            <a:r>
              <a:rPr dirty="0" sz="2300" spc="-10"/>
              <a:t>Analysis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2349500"/>
            <a:ext cx="3302635" cy="723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ourier New"/>
                <a:cs typeface="Courier New"/>
              </a:rPr>
              <a:t>Al/ML</a:t>
            </a:r>
            <a:r>
              <a:rPr dirty="0" sz="900" spc="-4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Project</a:t>
            </a:r>
            <a:r>
              <a:rPr dirty="0" sz="900" spc="-42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Presentation</a:t>
            </a:r>
            <a:r>
              <a:rPr dirty="0" sz="900" spc="-32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for</a:t>
            </a:r>
            <a:r>
              <a:rPr dirty="0" sz="900" spc="-4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Restaurant</a:t>
            </a:r>
            <a:r>
              <a:rPr dirty="0" sz="900" spc="15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Reviews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Courier New"/>
                <a:cs typeface="Courier New"/>
              </a:rPr>
              <a:t>by</a:t>
            </a:r>
            <a:r>
              <a:rPr dirty="0" sz="1000" spc="-204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Project</a:t>
            </a:r>
            <a:r>
              <a:rPr dirty="0" sz="1200" spc="-10">
                <a:latin typeface="Courier New"/>
                <a:cs typeface="Courier New"/>
              </a:rPr>
              <a:t>Team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000">
                <a:latin typeface="Courier New"/>
                <a:cs typeface="Courier New"/>
              </a:rPr>
              <a:t>Computer</a:t>
            </a:r>
            <a:r>
              <a:rPr dirty="0" sz="1000" spc="19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Science</a:t>
            </a:r>
            <a:r>
              <a:rPr dirty="0" sz="1000" spc="-40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Department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876300"/>
            <a:ext cx="2728595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204"/>
              <a:t> </a:t>
            </a:r>
            <a:r>
              <a:rPr dirty="0" sz="2200" spc="-10"/>
              <a:t>Statement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571500" y="1408853"/>
            <a:ext cx="7643495" cy="81153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baseline="3472" sz="2400" spc="-15">
                <a:latin typeface="Courier New"/>
                <a:cs typeface="Courier New"/>
              </a:rPr>
              <a:t>Core</a:t>
            </a:r>
            <a:r>
              <a:rPr dirty="0" baseline="3472" sz="2400" spc="-1057">
                <a:latin typeface="Courier New"/>
                <a:cs typeface="Courier New"/>
              </a:rPr>
              <a:t> </a:t>
            </a:r>
            <a:r>
              <a:rPr dirty="0" sz="1500" spc="-10">
                <a:latin typeface="Courier New"/>
                <a:cs typeface="Courier New"/>
              </a:rPr>
              <a:t>Challenge</a:t>
            </a:r>
            <a:endParaRPr sz="1500">
              <a:latin typeface="Courier New"/>
              <a:cs typeface="Courier New"/>
            </a:endParaRPr>
          </a:p>
          <a:p>
            <a:pPr marL="12700" marR="5080" indent="50800">
              <a:lnSpc>
                <a:spcPct val="111100"/>
              </a:lnSpc>
              <a:spcBef>
                <a:spcPts val="520"/>
              </a:spcBef>
            </a:pPr>
            <a:r>
              <a:rPr dirty="0" sz="900" spc="-30">
                <a:latin typeface="Courier New"/>
                <a:cs typeface="Courier New"/>
              </a:rPr>
              <a:t>Traditional</a:t>
            </a:r>
            <a:r>
              <a:rPr dirty="0" sz="1000" spc="-30">
                <a:latin typeface="Courier New"/>
                <a:cs typeface="Courier New"/>
              </a:rPr>
              <a:t>sentiment</a:t>
            </a:r>
            <a:r>
              <a:rPr dirty="0" sz="1000" spc="-49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analysis</a:t>
            </a:r>
            <a:r>
              <a:rPr dirty="0" sz="900" spc="-2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fails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to</a:t>
            </a:r>
            <a:r>
              <a:rPr dirty="0" sz="900" spc="-17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handle</a:t>
            </a:r>
            <a:r>
              <a:rPr dirty="0" sz="1000" spc="-254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multiple</a:t>
            </a:r>
            <a:r>
              <a:rPr dirty="0" sz="900" spc="-34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sentiments</a:t>
            </a:r>
            <a:r>
              <a:rPr dirty="0" sz="900">
                <a:latin typeface="Courier New"/>
                <a:cs typeface="Courier New"/>
              </a:rPr>
              <a:t>within</a:t>
            </a:r>
            <a:r>
              <a:rPr dirty="0" sz="900" spc="-36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the</a:t>
            </a:r>
            <a:r>
              <a:rPr dirty="0" sz="1200">
                <a:latin typeface="Courier New"/>
                <a:cs typeface="Courier New"/>
              </a:rPr>
              <a:t>same</a:t>
            </a:r>
            <a:r>
              <a:rPr dirty="0" sz="1200" spc="-2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review,</a:t>
            </a:r>
            <a:r>
              <a:rPr dirty="0" sz="900" spc="-409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especially</a:t>
            </a:r>
            <a:r>
              <a:rPr dirty="0" sz="700">
                <a:latin typeface="Courier New"/>
                <a:cs typeface="Courier New"/>
              </a:rPr>
              <a:t>in</a:t>
            </a:r>
            <a:r>
              <a:rPr dirty="0" sz="700" spc="-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multilingual contexts.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3900" y="3149600"/>
            <a:ext cx="2080895" cy="645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4604">
              <a:lnSpc>
                <a:spcPct val="100000"/>
              </a:lnSpc>
              <a:spcBef>
                <a:spcPts val="100"/>
              </a:spcBef>
              <a:tabLst>
                <a:tab pos="1066165" algn="l"/>
              </a:tabLst>
            </a:pPr>
            <a:r>
              <a:rPr dirty="0" sz="1000" spc="-10">
                <a:latin typeface="Courier New"/>
                <a:cs typeface="Courier New"/>
              </a:rPr>
              <a:t>Multilingual</a:t>
            </a:r>
            <a:r>
              <a:rPr dirty="0" sz="1000">
                <a:latin typeface="Courier New"/>
                <a:cs typeface="Courier New"/>
              </a:rPr>
              <a:t>	</a:t>
            </a:r>
            <a:r>
              <a:rPr dirty="0" sz="1200" spc="-10">
                <a:latin typeface="Courier New"/>
                <a:cs typeface="Courier New"/>
              </a:rPr>
              <a:t>Complexity</a:t>
            </a:r>
            <a:endParaRPr sz="1200">
              <a:latin typeface="Courier New"/>
              <a:cs typeface="Courier New"/>
            </a:endParaRPr>
          </a:p>
          <a:p>
            <a:pPr algn="ctr" marL="76200" marR="30480">
              <a:lnSpc>
                <a:spcPct val="138900"/>
              </a:lnSpc>
              <a:spcBef>
                <a:spcPts val="439"/>
              </a:spcBef>
            </a:pPr>
            <a:r>
              <a:rPr dirty="0" sz="800">
                <a:latin typeface="Courier New"/>
                <a:cs typeface="Courier New"/>
              </a:rPr>
              <a:t>English,</a:t>
            </a:r>
            <a:r>
              <a:rPr dirty="0" sz="800" spc="-1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Hindi,</a:t>
            </a:r>
            <a:r>
              <a:rPr dirty="0" sz="700" spc="16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Hinglish</a:t>
            </a:r>
            <a:r>
              <a:rPr dirty="0" sz="800" spc="8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reviews </a:t>
            </a:r>
            <a:r>
              <a:rPr dirty="0" sz="900">
                <a:latin typeface="Courier New"/>
                <a:cs typeface="Courier New"/>
              </a:rPr>
              <a:t>require</a:t>
            </a:r>
            <a:r>
              <a:rPr dirty="0" sz="900" spc="-42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robust</a:t>
            </a:r>
            <a:r>
              <a:rPr dirty="0" sz="900" spc="-85">
                <a:latin typeface="Courier New"/>
                <a:cs typeface="Courier New"/>
              </a:rPr>
              <a:t> </a:t>
            </a:r>
            <a:r>
              <a:rPr dirty="0" baseline="6172" sz="1350" spc="-37">
                <a:latin typeface="Courier New"/>
                <a:cs typeface="Courier New"/>
              </a:rPr>
              <a:t>NLP</a:t>
            </a:r>
            <a:endParaRPr baseline="6172" sz="13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78200" y="3149600"/>
            <a:ext cx="2413635" cy="647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00"/>
              </a:spcBef>
            </a:pPr>
            <a:r>
              <a:rPr dirty="0" baseline="-4629" sz="1800" spc="-15">
                <a:latin typeface="Courier New"/>
                <a:cs typeface="Courier New"/>
              </a:rPr>
              <a:t>Aspect</a:t>
            </a:r>
            <a:r>
              <a:rPr dirty="0" baseline="-4629" sz="1800" spc="-19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Granularity</a:t>
            </a:r>
            <a:endParaRPr sz="1100">
              <a:latin typeface="Courier New"/>
              <a:cs typeface="Courier New"/>
            </a:endParaRPr>
          </a:p>
          <a:p>
            <a:pPr marL="596900" marR="5080" indent="-584200">
              <a:lnSpc>
                <a:spcPct val="125000"/>
              </a:lnSpc>
              <a:spcBef>
                <a:spcPts val="459"/>
              </a:spcBef>
            </a:pPr>
            <a:r>
              <a:rPr dirty="0" sz="1000">
                <a:latin typeface="Courier New"/>
                <a:cs typeface="Courier New"/>
              </a:rPr>
              <a:t>Need</a:t>
            </a:r>
            <a:r>
              <a:rPr dirty="0" sz="1000" spc="-10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fine-grained</a:t>
            </a:r>
            <a:r>
              <a:rPr dirty="0" sz="900" spc="-12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analysis</a:t>
            </a:r>
            <a:r>
              <a:rPr dirty="0" sz="900" spc="-3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for</a:t>
            </a:r>
            <a:r>
              <a:rPr dirty="0" sz="900" spc="-36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Food, Service,</a:t>
            </a:r>
            <a:r>
              <a:rPr dirty="0" sz="1000" spc="-10">
                <a:latin typeface="Courier New"/>
                <a:cs typeface="Courier New"/>
              </a:rPr>
              <a:t>Ambience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11900" y="3136900"/>
            <a:ext cx="2144395" cy="632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0">
              <a:lnSpc>
                <a:spcPct val="100000"/>
              </a:lnSpc>
              <a:spcBef>
                <a:spcPts val="100"/>
              </a:spcBef>
            </a:pPr>
            <a:r>
              <a:rPr dirty="0" baseline="4629" sz="1800">
                <a:latin typeface="Courier New"/>
                <a:cs typeface="Courier New"/>
              </a:rPr>
              <a:t>Mixed</a:t>
            </a:r>
            <a:r>
              <a:rPr dirty="0" baseline="4629" sz="1800" spc="-97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Polarity</a:t>
            </a:r>
            <a:endParaRPr sz="1000">
              <a:latin typeface="Courier New"/>
              <a:cs typeface="Courier New"/>
            </a:endParaRPr>
          </a:p>
          <a:p>
            <a:pPr marL="914400" marR="5080" indent="-901700">
              <a:lnSpc>
                <a:spcPct val="116700"/>
              </a:lnSpc>
              <a:spcBef>
                <a:spcPts val="660"/>
              </a:spcBef>
            </a:pPr>
            <a:r>
              <a:rPr dirty="0" sz="1000">
                <a:latin typeface="Courier New"/>
                <a:cs typeface="Courier New"/>
              </a:rPr>
              <a:t>Example:</a:t>
            </a:r>
            <a:r>
              <a:rPr dirty="0" sz="1000" spc="-40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'Food</a:t>
            </a:r>
            <a:r>
              <a:rPr dirty="0" sz="900" spc="-34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tasty</a:t>
            </a:r>
            <a:r>
              <a:rPr dirty="0" sz="900" spc="-24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but</a:t>
            </a:r>
            <a:r>
              <a:rPr dirty="0" sz="900" spc="-16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service slow'</a:t>
            </a:r>
            <a:endParaRPr sz="900">
              <a:latin typeface="Courier New"/>
              <a:cs typeface="Courier New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31883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Motivation</a:t>
            </a:r>
            <a:r>
              <a:rPr dirty="0" sz="1800" spc="215"/>
              <a:t> </a:t>
            </a:r>
            <a:r>
              <a:rPr dirty="0" sz="3000" spc="-10"/>
              <a:t>&amp;</a:t>
            </a:r>
            <a:r>
              <a:rPr dirty="0" sz="1800" spc="-10"/>
              <a:t>Objectives</a:t>
            </a:r>
            <a:endParaRPr sz="18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/>
              <a:t>Business</a:t>
            </a:r>
            <a:r>
              <a:rPr dirty="0" spc="-605"/>
              <a:t> </a:t>
            </a:r>
            <a:r>
              <a:rPr dirty="0" sz="1700" spc="-10"/>
              <a:t>Impact</a:t>
            </a:r>
            <a:endParaRPr sz="1700"/>
          </a:p>
          <a:p>
            <a:pPr marL="12700" marR="5080">
              <a:lnSpc>
                <a:spcPct val="121500"/>
              </a:lnSpc>
              <a:spcBef>
                <a:spcPts val="250"/>
              </a:spcBef>
            </a:pPr>
            <a:r>
              <a:rPr dirty="0" sz="1000"/>
              <a:t>Manual</a:t>
            </a:r>
            <a:r>
              <a:rPr dirty="0" sz="1000" spc="-140"/>
              <a:t> </a:t>
            </a:r>
            <a:r>
              <a:rPr dirty="0" sz="900"/>
              <a:t>review</a:t>
            </a:r>
            <a:r>
              <a:rPr dirty="0" sz="900" spc="-185"/>
              <a:t> </a:t>
            </a:r>
            <a:r>
              <a:rPr dirty="0" sz="900"/>
              <a:t>analysis</a:t>
            </a:r>
            <a:r>
              <a:rPr dirty="0" sz="900" spc="-265"/>
              <a:t> </a:t>
            </a:r>
            <a:r>
              <a:rPr dirty="0" sz="700" spc="-10"/>
              <a:t>is</a:t>
            </a:r>
            <a:r>
              <a:rPr dirty="0" sz="700" spc="-165"/>
              <a:t> </a:t>
            </a:r>
            <a:r>
              <a:rPr dirty="0" sz="900"/>
              <a:t>slow</a:t>
            </a:r>
            <a:r>
              <a:rPr dirty="0" sz="900" spc="-135"/>
              <a:t> </a:t>
            </a:r>
            <a:r>
              <a:rPr dirty="0" sz="1200" spc="-10"/>
              <a:t>and</a:t>
            </a:r>
            <a:r>
              <a:rPr dirty="0" sz="1200" spc="-484"/>
              <a:t> </a:t>
            </a:r>
            <a:r>
              <a:rPr dirty="0" sz="900"/>
              <a:t>inconsistent.Businesses</a:t>
            </a:r>
            <a:r>
              <a:rPr dirty="0" sz="900" spc="105"/>
              <a:t> </a:t>
            </a:r>
            <a:r>
              <a:rPr dirty="0" sz="1000" spc="-20"/>
              <a:t>need </a:t>
            </a:r>
            <a:r>
              <a:rPr dirty="0" sz="900"/>
              <a:t>granular</a:t>
            </a:r>
            <a:r>
              <a:rPr dirty="0" sz="900" spc="-50"/>
              <a:t> </a:t>
            </a:r>
            <a:r>
              <a:rPr dirty="0" sz="900"/>
              <a:t>insightsforactionable</a:t>
            </a:r>
            <a:r>
              <a:rPr dirty="0" sz="900" spc="-25"/>
              <a:t> </a:t>
            </a:r>
            <a:r>
              <a:rPr dirty="0" sz="1000"/>
              <a:t>feedback</a:t>
            </a:r>
            <a:r>
              <a:rPr dirty="0" sz="1000" spc="-295"/>
              <a:t> </a:t>
            </a:r>
            <a:r>
              <a:rPr dirty="0" sz="1200" spc="-10"/>
              <a:t>and</a:t>
            </a:r>
            <a:r>
              <a:rPr dirty="0" sz="1200" spc="-475"/>
              <a:t> </a:t>
            </a:r>
            <a:r>
              <a:rPr dirty="0" sz="900"/>
              <a:t>multi-</a:t>
            </a:r>
            <a:r>
              <a:rPr dirty="0" sz="900" spc="-10"/>
              <a:t>aspect </a:t>
            </a:r>
            <a:r>
              <a:rPr dirty="0" sz="900"/>
              <a:t>decision-</a:t>
            </a:r>
            <a:r>
              <a:rPr dirty="0" sz="900" spc="-10"/>
              <a:t>making.</a:t>
            </a:r>
            <a:endParaRPr sz="900"/>
          </a:p>
        </p:txBody>
      </p:sp>
      <p:sp>
        <p:nvSpPr>
          <p:cNvPr id="4" name="object 4" descr=""/>
          <p:cNvSpPr txBox="1"/>
          <p:nvPr/>
        </p:nvSpPr>
        <p:spPr>
          <a:xfrm>
            <a:off x="7073900" y="1905000"/>
            <a:ext cx="62801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0">
                <a:latin typeface="Courier New"/>
                <a:cs typeface="Courier New"/>
              </a:rPr>
              <a:t>estaurantPerformance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6600" y="2773679"/>
            <a:ext cx="1054735" cy="116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2260">
              <a:lnSpc>
                <a:spcPct val="131900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Granular Insights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900">
                <a:latin typeface="Courier New"/>
                <a:cs typeface="Courier New"/>
              </a:rPr>
              <a:t>Aspect-</a:t>
            </a:r>
            <a:r>
              <a:rPr dirty="0" sz="900" spc="-10">
                <a:latin typeface="Courier New"/>
                <a:cs typeface="Courier New"/>
              </a:rPr>
              <a:t>specific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latin typeface="Courier New"/>
                <a:cs typeface="Courier New"/>
              </a:rPr>
              <a:t>sentiment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900" spc="-10">
                <a:latin typeface="Courier New"/>
                <a:cs typeface="Courier New"/>
              </a:rPr>
              <a:t>analysis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98700" y="2832100"/>
            <a:ext cx="1044575" cy="899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370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Actionable</a:t>
            </a:r>
            <a:endParaRPr sz="1200">
              <a:latin typeface="Courier New"/>
              <a:cs typeface="Courier New"/>
            </a:endParaRPr>
          </a:p>
          <a:p>
            <a:pPr marL="38100">
              <a:lnSpc>
                <a:spcPts val="1610"/>
              </a:lnSpc>
            </a:pPr>
            <a:r>
              <a:rPr dirty="0" sz="1400" spc="-10">
                <a:latin typeface="Courier New"/>
                <a:cs typeface="Courier New"/>
              </a:rPr>
              <a:t>Feedback</a:t>
            </a:r>
            <a:endParaRPr sz="1400">
              <a:latin typeface="Courier New"/>
              <a:cs typeface="Courier New"/>
            </a:endParaRPr>
          </a:p>
          <a:p>
            <a:pPr marL="38100" marR="30480">
              <a:lnSpc>
                <a:spcPct val="157400"/>
              </a:lnSpc>
              <a:spcBef>
                <a:spcPts val="500"/>
              </a:spcBef>
            </a:pPr>
            <a:r>
              <a:rPr dirty="0" baseline="6944" sz="1200">
                <a:latin typeface="Courier New"/>
                <a:cs typeface="Courier New"/>
              </a:rPr>
              <a:t>Direct</a:t>
            </a:r>
            <a:r>
              <a:rPr dirty="0" baseline="6944" sz="1200" spc="-6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business intelligence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11600" y="2874433"/>
            <a:ext cx="953135" cy="126619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65"/>
              </a:spcBef>
            </a:pPr>
            <a:r>
              <a:rPr dirty="0" sz="1000" spc="-10">
                <a:latin typeface="Courier New"/>
                <a:cs typeface="Courier New"/>
              </a:rPr>
              <a:t>Multilingual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200" spc="-10">
                <a:latin typeface="Courier New"/>
                <a:cs typeface="Courier New"/>
              </a:rPr>
              <a:t>Support</a:t>
            </a:r>
            <a:endParaRPr sz="12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dirty="0" sz="900" spc="-10">
                <a:latin typeface="Courier New"/>
                <a:cs typeface="Courier New"/>
              </a:rPr>
              <a:t>Handles</a:t>
            </a:r>
            <a:endParaRPr sz="900">
              <a:latin typeface="Courier New"/>
              <a:cs typeface="Courier New"/>
            </a:endParaRPr>
          </a:p>
          <a:p>
            <a:pPr marL="12700" marR="109220">
              <a:lnSpc>
                <a:spcPct val="120400"/>
              </a:lnSpc>
              <a:spcBef>
                <a:spcPts val="500"/>
              </a:spcBef>
            </a:pPr>
            <a:r>
              <a:rPr dirty="0" sz="900" spc="-10">
                <a:latin typeface="Courier New"/>
                <a:cs typeface="Courier New"/>
              </a:rPr>
              <a:t>India&amp;apos;s diverse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000" spc="-10">
                <a:latin typeface="Courier New"/>
                <a:cs typeface="Courier New"/>
              </a:rPr>
              <a:t>languages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0705" y="1489056"/>
            <a:ext cx="507619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50">
                <a:latin typeface="Arial MT"/>
                <a:cs typeface="Arial MT"/>
              </a:rPr>
              <a:t>Comprehensive</a:t>
            </a:r>
            <a:r>
              <a:rPr dirty="0" sz="1050" spc="135">
                <a:latin typeface="Arial MT"/>
                <a:cs typeface="Arial MT"/>
              </a:rPr>
              <a:t> </a:t>
            </a:r>
            <a:r>
              <a:rPr dirty="0" sz="1050" spc="65">
                <a:latin typeface="Arial MT"/>
                <a:cs typeface="Arial MT"/>
              </a:rPr>
              <a:t>multilingual</a:t>
            </a:r>
            <a:r>
              <a:rPr dirty="0" sz="1050" spc="120">
                <a:latin typeface="Arial MT"/>
                <a:cs typeface="Arial MT"/>
              </a:rPr>
              <a:t> </a:t>
            </a:r>
            <a:r>
              <a:rPr dirty="0" sz="1050" spc="65">
                <a:latin typeface="Arial MT"/>
                <a:cs typeface="Arial MT"/>
              </a:rPr>
              <a:t>dataset</a:t>
            </a:r>
            <a:r>
              <a:rPr dirty="0" sz="1050" spc="1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</a:t>
            </a:r>
            <a:r>
              <a:rPr dirty="0" sz="1050" spc="10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robust</a:t>
            </a:r>
            <a:r>
              <a:rPr dirty="0" sz="1050" spc="125">
                <a:latin typeface="Arial MT"/>
                <a:cs typeface="Arial MT"/>
              </a:rPr>
              <a:t> </a:t>
            </a:r>
            <a:r>
              <a:rPr dirty="0" sz="1050" spc="-35">
                <a:latin typeface="Arial MT"/>
                <a:cs typeface="Arial MT"/>
              </a:rPr>
              <a:t>ABSA</a:t>
            </a:r>
            <a:r>
              <a:rPr dirty="0" sz="1050" spc="114">
                <a:latin typeface="Arial MT"/>
                <a:cs typeface="Arial MT"/>
              </a:rPr>
              <a:t> </a:t>
            </a:r>
            <a:r>
              <a:rPr dirty="0" sz="1050" spc="60">
                <a:latin typeface="Arial MT"/>
                <a:cs typeface="Arial MT"/>
              </a:rPr>
              <a:t>training</a:t>
            </a:r>
            <a:r>
              <a:rPr dirty="0" sz="1050" spc="70">
                <a:latin typeface="Arial MT"/>
                <a:cs typeface="Arial MT"/>
              </a:rPr>
              <a:t> </a:t>
            </a:r>
            <a:r>
              <a:rPr dirty="0" sz="1050" spc="80">
                <a:latin typeface="Arial MT"/>
                <a:cs typeface="Arial MT"/>
              </a:rPr>
              <a:t>and</a:t>
            </a:r>
            <a:r>
              <a:rPr dirty="0" sz="1050" spc="75">
                <a:latin typeface="Arial MT"/>
                <a:cs typeface="Arial MT"/>
              </a:rPr>
              <a:t> </a:t>
            </a:r>
            <a:r>
              <a:rPr dirty="0" sz="1050" spc="45">
                <a:latin typeface="Arial MT"/>
                <a:cs typeface="Arial MT"/>
              </a:rPr>
              <a:t>evaluation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65939" y="2157337"/>
          <a:ext cx="6036310" cy="1581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0015"/>
                <a:gridCol w="2358390"/>
                <a:gridCol w="942339"/>
              </a:tblGrid>
              <a:tr h="239395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050">
                          <a:latin typeface="Arial MT"/>
                          <a:cs typeface="Arial MT"/>
                        </a:rPr>
                        <a:t>Total</a:t>
                      </a:r>
                      <a:r>
                        <a:rPr dirty="0" sz="1050" spc="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50" spc="-10">
                          <a:latin typeface="Arial MT"/>
                          <a:cs typeface="Arial MT"/>
                        </a:rPr>
                        <a:t>Reviews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050" spc="-20">
                          <a:latin typeface="Arial Black"/>
                          <a:cs typeface="Arial Black"/>
                        </a:rPr>
                        <a:t>100%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12065"/>
                </a:tc>
              </a:tr>
              <a:tr h="2813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50" spc="-10">
                          <a:latin typeface="Arial MT"/>
                          <a:cs typeface="Arial MT"/>
                        </a:rPr>
                        <a:t>English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B="0" marT="50800"/>
                </a:tc>
                <a:tc>
                  <a:txBody>
                    <a:bodyPr/>
                    <a:lstStyle/>
                    <a:p>
                      <a:pPr marL="14274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2,200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r" marR="577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50" spc="-25">
                          <a:latin typeface="Courier New"/>
                          <a:cs typeface="Courier New"/>
                        </a:rPr>
                        <a:t>55%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0"/>
                </a:tc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050" spc="-10">
                          <a:latin typeface="Arial MT"/>
                          <a:cs typeface="Arial MT"/>
                        </a:rPr>
                        <a:t>Hindi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B="0" marT="55244"/>
                </a:tc>
                <a:tc>
                  <a:txBody>
                    <a:bodyPr/>
                    <a:lstStyle/>
                    <a:p>
                      <a:pPr marL="140843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150" spc="-10">
                          <a:latin typeface="Arial MT"/>
                          <a:cs typeface="Arial MT"/>
                        </a:rPr>
                        <a:t>1,000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42544"/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200" spc="-25">
                          <a:latin typeface="Courier New"/>
                          <a:cs typeface="Courier New"/>
                        </a:rPr>
                        <a:t>25%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B="0" marT="36194"/>
                </a:tc>
              </a:tr>
              <a:tr h="2813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50" spc="-10">
                          <a:latin typeface="Arial MT"/>
                          <a:cs typeface="Arial MT"/>
                        </a:rPr>
                        <a:t>Hinglish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marL="14262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50" spc="-25">
                          <a:latin typeface="Arial MT"/>
                          <a:cs typeface="Arial MT"/>
                        </a:rPr>
                        <a:t>800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150" spc="-25">
                          <a:latin typeface="Courier New"/>
                          <a:cs typeface="Courier New"/>
                        </a:rPr>
                        <a:t>20%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2384"/>
                </a:tc>
              </a:tr>
              <a:tr h="271145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Arial MT"/>
                          <a:cs typeface="Arial MT"/>
                        </a:rPr>
                        <a:t>Aspects</a:t>
                      </a:r>
                      <a:r>
                        <a:rPr dirty="0" sz="1050" spc="3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50" spc="-10">
                          <a:latin typeface="Arial MT"/>
                          <a:cs typeface="Arial MT"/>
                        </a:rPr>
                        <a:t>Tracked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0345">
                <a:tc>
                  <a:txBody>
                    <a:bodyPr/>
                    <a:lstStyle/>
                    <a:p>
                      <a:pPr marL="36195">
                        <a:lnSpc>
                          <a:spcPts val="1240"/>
                        </a:lnSpc>
                        <a:spcBef>
                          <a:spcPts val="39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Sentiment</a:t>
                      </a:r>
                      <a:r>
                        <a:rPr dirty="0" sz="1100" spc="2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Classes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018" y="2835715"/>
            <a:ext cx="8251902" cy="53648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8097" y="1114778"/>
            <a:ext cx="2801744" cy="157462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54139" y="3483681"/>
            <a:ext cx="1449658" cy="1672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6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-265">
                <a:solidFill>
                  <a:srgbClr val="3149D8"/>
                </a:solidFill>
                <a:latin typeface="Arial Black"/>
                <a:cs typeface="Arial Black"/>
              </a:rPr>
              <a:t>Data</a:t>
            </a:r>
            <a:r>
              <a:rPr dirty="0" sz="2400" spc="-270">
                <a:solidFill>
                  <a:srgbClr val="3149D8"/>
                </a:solidFill>
                <a:latin typeface="Arial Black"/>
                <a:cs typeface="Arial Black"/>
              </a:rPr>
              <a:t> </a:t>
            </a:r>
            <a:r>
              <a:rPr dirty="0" sz="2400" spc="-295">
                <a:solidFill>
                  <a:srgbClr val="2A4BCD"/>
                </a:solidFill>
                <a:latin typeface="Arial Black"/>
                <a:cs typeface="Arial Black"/>
              </a:rPr>
              <a:t>Preprocessing</a:t>
            </a:r>
            <a:r>
              <a:rPr dirty="0" sz="2400" spc="-120">
                <a:solidFill>
                  <a:srgbClr val="2A4BCD"/>
                </a:solidFill>
                <a:latin typeface="Arial Black"/>
                <a:cs typeface="Arial Black"/>
              </a:rPr>
              <a:t> </a:t>
            </a:r>
            <a:r>
              <a:rPr dirty="0" sz="2400" spc="-295">
                <a:solidFill>
                  <a:srgbClr val="2B49C8"/>
                </a:solidFill>
                <a:latin typeface="Arial Black"/>
                <a:cs typeface="Arial Black"/>
              </a:rPr>
              <a:t>Pipeline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8441" y="3266075"/>
            <a:ext cx="2224405" cy="909955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1200"/>
              </a:spcBef>
            </a:pPr>
            <a:r>
              <a:rPr dirty="0" sz="1800" spc="-265">
                <a:solidFill>
                  <a:srgbClr val="3149CD"/>
                </a:solidFill>
                <a:latin typeface="Arial Black"/>
                <a:cs typeface="Arial Black"/>
              </a:rPr>
              <a:t>Text</a:t>
            </a:r>
            <a:r>
              <a:rPr dirty="0" sz="1800" spc="-275">
                <a:solidFill>
                  <a:srgbClr val="3149CD"/>
                </a:solidFill>
                <a:latin typeface="Arial Black"/>
                <a:cs typeface="Arial Black"/>
              </a:rPr>
              <a:t> </a:t>
            </a:r>
            <a:r>
              <a:rPr dirty="0" sz="1800" spc="-60">
                <a:solidFill>
                  <a:srgbClr val="3148B6"/>
                </a:solidFill>
                <a:latin typeface="Arial Black"/>
                <a:cs typeface="Arial Black"/>
              </a:rPr>
              <a:t>Cleaning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dirty="0" sz="1150">
                <a:latin typeface="Arial MT"/>
                <a:cs typeface="Arial MT"/>
              </a:rPr>
              <a:t>Remove</a:t>
            </a:r>
            <a:r>
              <a:rPr dirty="0" sz="1150" spc="10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special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characters,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65">
                <a:latin typeface="Arial MT"/>
                <a:cs typeface="Arial MT"/>
              </a:rPr>
              <a:t>URLs,</a:t>
            </a:r>
            <a:endParaRPr sz="1150">
              <a:latin typeface="Arial MT"/>
              <a:cs typeface="Arial MT"/>
            </a:endParaRPr>
          </a:p>
          <a:p>
            <a:pPr algn="ctr" marL="381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normalize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text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12789" y="3749771"/>
            <a:ext cx="1933575" cy="4298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61950" marR="5080" indent="-349885">
              <a:lnSpc>
                <a:spcPct val="110500"/>
              </a:lnSpc>
              <a:spcBef>
                <a:spcPts val="90"/>
              </a:spcBef>
            </a:pPr>
            <a:r>
              <a:rPr dirty="0" sz="1200" spc="-25">
                <a:latin typeface="Arial MT"/>
                <a:cs typeface="Arial MT"/>
              </a:rPr>
              <a:t>Hinglish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standardization</a:t>
            </a:r>
            <a:r>
              <a:rPr dirty="0" sz="1200" spc="-114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stopword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removal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07674" y="3304382"/>
            <a:ext cx="2348865" cy="868044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1050"/>
              </a:spcBef>
            </a:pPr>
            <a:r>
              <a:rPr dirty="0" sz="1650" spc="55">
                <a:solidFill>
                  <a:srgbClr val="2B48C4"/>
                </a:solidFill>
                <a:latin typeface="Cambria"/>
                <a:cs typeface="Cambria"/>
              </a:rPr>
              <a:t>Tokerilzatloii</a:t>
            </a:r>
            <a:endParaRPr sz="1650">
              <a:latin typeface="Cambria"/>
              <a:cs typeface="Cambria"/>
            </a:endParaRPr>
          </a:p>
          <a:p>
            <a:pPr algn="ctr" marL="12065" marR="5080">
              <a:lnSpc>
                <a:spcPct val="106700"/>
              </a:lnSpc>
              <a:spcBef>
                <a:spcPts val="620"/>
              </a:spcBef>
            </a:pPr>
            <a:r>
              <a:rPr dirty="0" sz="1200" spc="-165">
                <a:latin typeface="Arial MT"/>
                <a:cs typeface="Arial MT"/>
              </a:rPr>
              <a:t>mBERT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45">
                <a:latin typeface="Arial MT"/>
                <a:cs typeface="Arial MT"/>
              </a:rPr>
              <a:t>WordPiece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tokenizotion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train-test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split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02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 baseline="-2525" sz="3300" spc="-30"/>
              <a:t>System</a:t>
            </a:r>
            <a:r>
              <a:rPr dirty="0" baseline="-2525" sz="3300" spc="-1057"/>
              <a:t> </a:t>
            </a:r>
            <a:r>
              <a:rPr dirty="0" sz="1800" spc="-10"/>
              <a:t>Architecture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1447800" y="1054100"/>
            <a:ext cx="17081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0">
                <a:latin typeface="Courier New"/>
                <a:cs typeface="Courier New"/>
              </a:rPr>
              <a:t>O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89100" y="1219200"/>
            <a:ext cx="99885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936" sz="1050" spc="-15">
                <a:latin typeface="Courier New"/>
                <a:cs typeface="Courier New"/>
              </a:rPr>
              <a:t>Data</a:t>
            </a:r>
            <a:r>
              <a:rPr dirty="0" baseline="7936" sz="1050" spc="-45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Archiecesture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38600" y="1181100"/>
            <a:ext cx="183451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ourier New"/>
                <a:cs typeface="Courier New"/>
              </a:rPr>
              <a:t>Processing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Layers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81200" y="1679448"/>
            <a:ext cx="445134" cy="21336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ctr" marR="25400">
              <a:lnSpc>
                <a:spcPct val="100000"/>
              </a:lnSpc>
              <a:spcBef>
                <a:spcPts val="275"/>
              </a:spcBef>
            </a:pPr>
            <a:r>
              <a:rPr dirty="0" sz="400" spc="-10">
                <a:latin typeface="Courier New"/>
                <a:cs typeface="Courier New"/>
              </a:rPr>
              <a:t>review</a:t>
            </a:r>
            <a:endParaRPr sz="4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500" spc="-10">
                <a:latin typeface="Courier New"/>
                <a:cs typeface="Courier New"/>
              </a:rPr>
              <a:t>processsing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30400" y="2095500"/>
            <a:ext cx="50863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ourier New"/>
                <a:cs typeface="Courier New"/>
              </a:rPr>
              <a:t>mBBT</a:t>
            </a:r>
            <a:r>
              <a:rPr dirty="0" sz="900" spc="-405">
                <a:latin typeface="Courier New"/>
                <a:cs typeface="Courier New"/>
              </a:rPr>
              <a:t> </a:t>
            </a:r>
            <a:r>
              <a:rPr dirty="0" sz="500" spc="-10">
                <a:latin typeface="Courier New"/>
                <a:cs typeface="Courier New"/>
              </a:rPr>
              <a:t>model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68500" y="2514600"/>
            <a:ext cx="452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845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Courier New"/>
                <a:cs typeface="Courier New"/>
              </a:rPr>
              <a:t>aspect</a:t>
            </a:r>
            <a:endParaRPr sz="5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400" spc="-10">
                <a:latin typeface="Courier New"/>
                <a:cs typeface="Courier New"/>
              </a:rPr>
              <a:t>classification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38600" y="1473200"/>
            <a:ext cx="7550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ourier New"/>
                <a:cs typeface="Courier New"/>
              </a:rPr>
              <a:t>Raw</a:t>
            </a:r>
            <a:r>
              <a:rPr dirty="0" sz="1100" spc="-16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Review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16500" y="1511300"/>
            <a:ext cx="9175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ourier New"/>
                <a:cs typeface="Courier New"/>
              </a:rPr>
              <a:t>Preprocessing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45100" y="1583944"/>
            <a:ext cx="800735" cy="473709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00" spc="-10">
                <a:latin typeface="Courier New"/>
                <a:cs typeface="Courier New"/>
              </a:rPr>
              <a:t>mBERT</a:t>
            </a:r>
            <a:endParaRPr sz="1100">
              <a:latin typeface="Courier New"/>
              <a:cs typeface="Courier New"/>
            </a:endParaRPr>
          </a:p>
          <a:p>
            <a:pPr marL="101600">
              <a:lnSpc>
                <a:spcPct val="100000"/>
              </a:lnSpc>
              <a:spcBef>
                <a:spcPts val="480"/>
              </a:spcBef>
            </a:pPr>
            <a:r>
              <a:rPr dirty="0" sz="1000" spc="-10">
                <a:latin typeface="Courier New"/>
                <a:cs typeface="Courier New"/>
              </a:rPr>
              <a:t>Sentiment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38600" y="1605533"/>
            <a:ext cx="1042035" cy="62230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 indent="177800">
              <a:lnSpc>
                <a:spcPct val="100000"/>
              </a:lnSpc>
              <a:spcBef>
                <a:spcPts val="655"/>
              </a:spcBef>
            </a:pPr>
            <a:r>
              <a:rPr dirty="0" sz="900" spc="-10">
                <a:latin typeface="Courier New"/>
                <a:cs typeface="Courier New"/>
              </a:rPr>
              <a:t>Tokenization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33300"/>
              </a:lnSpc>
              <a:spcBef>
                <a:spcPts val="220"/>
              </a:spcBef>
            </a:pPr>
            <a:r>
              <a:rPr dirty="0" sz="1000">
                <a:latin typeface="Courier New"/>
                <a:cs typeface="Courier New"/>
              </a:rPr>
              <a:t>Aspect</a:t>
            </a:r>
            <a:r>
              <a:rPr dirty="0" sz="1000" spc="-40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Classifier Classifier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00800" y="1143000"/>
            <a:ext cx="1913255" cy="1104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Courier New"/>
                <a:cs typeface="Courier New"/>
              </a:rPr>
              <a:t>Core</a:t>
            </a:r>
            <a:r>
              <a:rPr dirty="0" sz="1600" spc="-705">
                <a:latin typeface="Courier New"/>
                <a:cs typeface="Courier New"/>
              </a:rPr>
              <a:t> </a:t>
            </a:r>
            <a:r>
              <a:rPr dirty="0" sz="1700" spc="-10">
                <a:latin typeface="Courier New"/>
                <a:cs typeface="Courier New"/>
              </a:rPr>
              <a:t>Components</a:t>
            </a:r>
            <a:endParaRPr sz="1700">
              <a:latin typeface="Courier New"/>
              <a:cs typeface="Courier New"/>
            </a:endParaRPr>
          </a:p>
          <a:p>
            <a:pPr marL="38100" marR="30480">
              <a:lnSpc>
                <a:spcPct val="138900"/>
              </a:lnSpc>
              <a:spcBef>
                <a:spcPts val="439"/>
              </a:spcBef>
              <a:tabLst>
                <a:tab pos="850265" algn="l"/>
              </a:tabLst>
            </a:pPr>
            <a:r>
              <a:rPr dirty="0" sz="700" spc="-10">
                <a:latin typeface="Courier New"/>
                <a:cs typeface="Courier New"/>
              </a:rPr>
              <a:t>Multilingual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900">
                <a:latin typeface="Courier New"/>
                <a:cs typeface="Courier New"/>
              </a:rPr>
              <a:t>BERT</a:t>
            </a:r>
            <a:r>
              <a:rPr dirty="0" sz="900" spc="-105">
                <a:latin typeface="Courier New"/>
                <a:cs typeface="Courier New"/>
              </a:rPr>
              <a:t> </a:t>
            </a:r>
            <a:r>
              <a:rPr dirty="0" sz="900" spc="-25">
                <a:latin typeface="Courier New"/>
                <a:cs typeface="Courier New"/>
              </a:rPr>
              <a:t>for </a:t>
            </a:r>
            <a:r>
              <a:rPr dirty="0" sz="900">
                <a:latin typeface="Courier New"/>
                <a:cs typeface="Courier New"/>
              </a:rPr>
              <a:t>contextual</a:t>
            </a:r>
            <a:r>
              <a:rPr dirty="0" sz="900" spc="-14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understanding, </a:t>
            </a:r>
            <a:r>
              <a:rPr dirty="0" sz="1000">
                <a:latin typeface="Courier New"/>
                <a:cs typeface="Courier New"/>
              </a:rPr>
              <a:t>aspect</a:t>
            </a:r>
            <a:r>
              <a:rPr dirty="0" sz="1000" spc="-39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extraction,</a:t>
            </a:r>
            <a:r>
              <a:rPr dirty="0" sz="800" spc="75">
                <a:latin typeface="Courier New"/>
                <a:cs typeface="Courier New"/>
              </a:rPr>
              <a:t> </a:t>
            </a:r>
            <a:r>
              <a:rPr dirty="0" baseline="6172" sz="1350" spc="-15">
                <a:latin typeface="Courier New"/>
                <a:cs typeface="Courier New"/>
              </a:rPr>
              <a:t>sentiment</a:t>
            </a:r>
            <a:endParaRPr baseline="6172" sz="135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200"/>
              </a:spcBef>
            </a:pPr>
            <a:r>
              <a:rPr dirty="0" sz="700">
                <a:latin typeface="Courier New"/>
                <a:cs typeface="Courier New"/>
              </a:rPr>
              <a:t>classification,</a:t>
            </a:r>
            <a:r>
              <a:rPr dirty="0" sz="700" spc="450">
                <a:latin typeface="Courier New"/>
                <a:cs typeface="Courier New"/>
              </a:rPr>
              <a:t> </a:t>
            </a:r>
            <a:r>
              <a:rPr dirty="0" sz="1000" spc="-25">
                <a:latin typeface="Courier New"/>
                <a:cs typeface="Courier New"/>
              </a:rPr>
              <a:t>and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26200" y="2324100"/>
            <a:ext cx="77279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latin typeface="Courier New"/>
                <a:cs typeface="Courier New"/>
              </a:rPr>
              <a:t>explainability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340600" y="2273300"/>
            <a:ext cx="5594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Courier New"/>
                <a:cs typeface="Courier New"/>
              </a:rPr>
              <a:t>modules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006600" y="2895600"/>
            <a:ext cx="368935" cy="20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5080" indent="-38100">
              <a:lnSpc>
                <a:spcPct val="116700"/>
              </a:lnSpc>
              <a:spcBef>
                <a:spcPts val="100"/>
              </a:spcBef>
            </a:pPr>
            <a:r>
              <a:rPr dirty="0" sz="500" spc="-10">
                <a:latin typeface="Courier New"/>
                <a:cs typeface="Courier New"/>
              </a:rPr>
              <a:t>sentiment analysis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74800" y="3619500"/>
            <a:ext cx="11690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Courier New"/>
                <a:cs typeface="Courier New"/>
              </a:rPr>
              <a:t>SHAP-</a:t>
            </a:r>
            <a:r>
              <a:rPr dirty="0" sz="1500" spc="-10">
                <a:latin typeface="Courier New"/>
                <a:cs typeface="Courier New"/>
              </a:rPr>
              <a:t>.LIME</a:t>
            </a:r>
            <a:endParaRPr sz="1500">
              <a:latin typeface="Courier New"/>
              <a:cs typeface="Courier New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4408" y="1003300"/>
            <a:ext cx="885128" cy="115658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6908" y="1832415"/>
            <a:ext cx="292719" cy="33443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561170" y="1121745"/>
            <a:ext cx="1840230" cy="850265"/>
            <a:chOff x="1561170" y="1121745"/>
            <a:chExt cx="1840230" cy="850265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9322" y="1713970"/>
              <a:ext cx="195146" cy="25779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1170" y="1463145"/>
              <a:ext cx="1839951" cy="48074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7219" y="1191418"/>
              <a:ext cx="1003609" cy="42500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6908" y="1121745"/>
              <a:ext cx="236963" cy="132379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10457" y="1574623"/>
            <a:ext cx="578469" cy="55042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2701" y="1017234"/>
            <a:ext cx="1505414" cy="8360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08341" y="1275026"/>
            <a:ext cx="264841" cy="29262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18047" y="2145946"/>
            <a:ext cx="3324457" cy="54345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04047" y="1017234"/>
            <a:ext cx="1024518" cy="1707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885627" y="1929959"/>
            <a:ext cx="320597" cy="18811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10707" y="2919324"/>
            <a:ext cx="132420" cy="10451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091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30"/>
              </a:spcBef>
            </a:pPr>
            <a:r>
              <a:rPr dirty="0" sz="2100" spc="-105">
                <a:solidFill>
                  <a:srgbClr val="3148CC"/>
                </a:solidFill>
                <a:latin typeface="Arial Black"/>
                <a:cs typeface="Arial Black"/>
              </a:rPr>
              <a:t>Model</a:t>
            </a:r>
            <a:r>
              <a:rPr dirty="0" sz="2100" spc="-195">
                <a:solidFill>
                  <a:srgbClr val="3148CC"/>
                </a:solidFill>
                <a:latin typeface="Arial Black"/>
                <a:cs typeface="Arial Black"/>
              </a:rPr>
              <a:t> </a:t>
            </a:r>
            <a:r>
              <a:rPr dirty="0" sz="2100" spc="-155">
                <a:solidFill>
                  <a:srgbClr val="2A49CD"/>
                </a:solidFill>
                <a:latin typeface="Arial Black"/>
                <a:cs typeface="Arial Black"/>
              </a:rPr>
              <a:t>&amp;</a:t>
            </a:r>
            <a:r>
              <a:rPr dirty="0" sz="2100" spc="-260">
                <a:solidFill>
                  <a:srgbClr val="2A49CD"/>
                </a:solidFill>
                <a:latin typeface="Arial Black"/>
                <a:cs typeface="Arial Black"/>
              </a:rPr>
              <a:t> </a:t>
            </a:r>
            <a:r>
              <a:rPr dirty="0" sz="2100" spc="-80">
                <a:solidFill>
                  <a:srgbClr val="2D49CD"/>
                </a:solidFill>
                <a:latin typeface="Arial Black"/>
                <a:cs typeface="Arial Black"/>
              </a:rPr>
              <a:t>Methodology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53190" y="3294086"/>
            <a:ext cx="3028950" cy="1101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004569">
              <a:lnSpc>
                <a:spcPct val="100000"/>
              </a:lnSpc>
              <a:spcBef>
                <a:spcPts val="135"/>
              </a:spcBef>
            </a:pPr>
            <a:r>
              <a:rPr dirty="0" sz="1550" spc="-180">
                <a:solidFill>
                  <a:srgbClr val="2F4DCA"/>
                </a:solidFill>
                <a:latin typeface="Arial Black"/>
                <a:cs typeface="Arial Black"/>
              </a:rPr>
              <a:t>mBERT</a:t>
            </a:r>
            <a:r>
              <a:rPr dirty="0" sz="1550" spc="-95">
                <a:solidFill>
                  <a:srgbClr val="2F4DCA"/>
                </a:solidFill>
                <a:latin typeface="Arial Black"/>
                <a:cs typeface="Arial Black"/>
              </a:rPr>
              <a:t> </a:t>
            </a:r>
            <a:r>
              <a:rPr dirty="0" sz="1550" spc="-50">
                <a:solidFill>
                  <a:srgbClr val="2F46C8"/>
                </a:solidFill>
                <a:latin typeface="Arial Black"/>
                <a:cs typeface="Arial Black"/>
              </a:rPr>
              <a:t>Architecture</a:t>
            </a:r>
            <a:endParaRPr sz="1550">
              <a:latin typeface="Arial Black"/>
              <a:cs typeface="Arial Black"/>
            </a:endParaRPr>
          </a:p>
          <a:p>
            <a:pPr marL="125095" indent="-112395">
              <a:lnSpc>
                <a:spcPct val="100000"/>
              </a:lnSpc>
              <a:spcBef>
                <a:spcPts val="895"/>
              </a:spcBef>
              <a:buChar char="•"/>
              <a:tabLst>
                <a:tab pos="125095" algn="l"/>
              </a:tabLst>
            </a:pPr>
            <a:r>
              <a:rPr dirty="0" sz="1100">
                <a:latin typeface="Arial MT"/>
                <a:cs typeface="Arial MT"/>
              </a:rPr>
              <a:t>Handles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104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languages</a:t>
            </a:r>
            <a:r>
              <a:rPr dirty="0" sz="1100" spc="2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effectively</a:t>
            </a:r>
            <a:endParaRPr sz="1100">
              <a:latin typeface="Arial MT"/>
              <a:cs typeface="Arial MT"/>
            </a:endParaRPr>
          </a:p>
          <a:p>
            <a:pPr marL="133350" indent="-120650">
              <a:lnSpc>
                <a:spcPct val="100000"/>
              </a:lnSpc>
              <a:spcBef>
                <a:spcPts val="819"/>
              </a:spcBef>
              <a:buChar char="•"/>
              <a:tabLst>
                <a:tab pos="133350" algn="l"/>
              </a:tabLst>
            </a:pPr>
            <a:r>
              <a:rPr dirty="0" sz="1150">
                <a:latin typeface="Arial MT"/>
                <a:cs typeface="Arial MT"/>
              </a:rPr>
              <a:t>Strong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contextual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understanding</a:t>
            </a:r>
            <a:endParaRPr sz="1150">
              <a:latin typeface="Arial MT"/>
              <a:cs typeface="Arial MT"/>
            </a:endParaRPr>
          </a:p>
          <a:p>
            <a:pPr marL="127000" indent="-113664">
              <a:lnSpc>
                <a:spcPct val="100000"/>
              </a:lnSpc>
              <a:spcBef>
                <a:spcPts val="890"/>
              </a:spcBef>
              <a:buChar char="•"/>
              <a:tabLst>
                <a:tab pos="127000" algn="l"/>
              </a:tabLst>
            </a:pPr>
            <a:r>
              <a:rPr dirty="0" sz="1050">
                <a:latin typeface="Arial MT"/>
                <a:cs typeface="Arial MT"/>
              </a:rPr>
              <a:t>Excellent</a:t>
            </a:r>
            <a:r>
              <a:rPr dirty="0" sz="1050" spc="25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</a:t>
            </a:r>
            <a:r>
              <a:rPr dirty="0" sz="1050" spc="100">
                <a:latin typeface="Arial MT"/>
                <a:cs typeface="Arial MT"/>
              </a:rPr>
              <a:t> </a:t>
            </a:r>
            <a:r>
              <a:rPr dirty="0" sz="1050" spc="50">
                <a:latin typeface="Arial MT"/>
                <a:cs typeface="Arial MT"/>
              </a:rPr>
              <a:t>English-Hindi-</a:t>
            </a:r>
            <a:r>
              <a:rPr dirty="0" sz="1050" spc="40">
                <a:latin typeface="Arial MT"/>
                <a:cs typeface="Arial MT"/>
              </a:rPr>
              <a:t>HingIish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77835" y="921314"/>
            <a:ext cx="7429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50">
                <a:solidFill>
                  <a:srgbClr val="696969"/>
                </a:solidFill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555939" y="921314"/>
            <a:ext cx="90233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4470" algn="l"/>
                <a:tab pos="546100" algn="l"/>
              </a:tabLst>
            </a:pPr>
            <a:r>
              <a:rPr dirty="0" sz="800" spc="-380">
                <a:solidFill>
                  <a:srgbClr val="8E8E8E"/>
                </a:solidFill>
                <a:latin typeface="Arial MT"/>
                <a:cs typeface="Arial MT"/>
              </a:rPr>
              <a:t>—</a:t>
            </a:r>
            <a:r>
              <a:rPr dirty="0" sz="800">
                <a:solidFill>
                  <a:srgbClr val="8E8E8E"/>
                </a:solidFill>
                <a:latin typeface="Arial MT"/>
                <a:cs typeface="Arial MT"/>
              </a:rPr>
              <a:t>	</a:t>
            </a:r>
            <a:r>
              <a:rPr dirty="0" sz="800" spc="-120">
                <a:solidFill>
                  <a:srgbClr val="7C7C7C"/>
                </a:solidFill>
                <a:latin typeface="Arial MT"/>
                <a:cs typeface="Arial MT"/>
              </a:rPr>
              <a:t>-</a:t>
            </a:r>
            <a:r>
              <a:rPr dirty="0" sz="800">
                <a:solidFill>
                  <a:srgbClr val="7C7C7C"/>
                </a:solidFill>
                <a:latin typeface="Arial MT"/>
                <a:cs typeface="Arial MT"/>
              </a:rPr>
              <a:t>,</a:t>
            </a:r>
            <a:r>
              <a:rPr dirty="0" sz="800" spc="180">
                <a:solidFill>
                  <a:srgbClr val="7C7C7C"/>
                </a:solidFill>
                <a:latin typeface="Arial MT"/>
                <a:cs typeface="Arial MT"/>
              </a:rPr>
              <a:t>  </a:t>
            </a:r>
            <a:r>
              <a:rPr dirty="0" sz="800" spc="-475">
                <a:solidFill>
                  <a:srgbClr val="8E8E8E"/>
                </a:solidFill>
                <a:latin typeface="Arial MT"/>
                <a:cs typeface="Arial MT"/>
              </a:rPr>
              <a:t>—</a:t>
            </a:r>
            <a:r>
              <a:rPr dirty="0" sz="800">
                <a:solidFill>
                  <a:srgbClr val="8E8E8E"/>
                </a:solidFill>
                <a:latin typeface="Arial MT"/>
                <a:cs typeface="Arial MT"/>
              </a:rPr>
              <a:t>	</a:t>
            </a:r>
            <a:r>
              <a:rPr dirty="0" sz="800">
                <a:solidFill>
                  <a:srgbClr val="919191"/>
                </a:solidFill>
                <a:latin typeface="Arial MT"/>
                <a:cs typeface="Arial MT"/>
              </a:rPr>
              <a:t>-</a:t>
            </a:r>
            <a:r>
              <a:rPr dirty="0" sz="800" spc="-35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919191"/>
                </a:solidFill>
                <a:latin typeface="Arial MT"/>
                <a:cs typeface="Arial MT"/>
              </a:rPr>
              <a:t>—</a:t>
            </a:r>
            <a:r>
              <a:rPr dirty="0" sz="800" spc="110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800" spc="-385">
                <a:solidFill>
                  <a:srgbClr val="909090"/>
                </a:solidFill>
                <a:latin typeface="Arial MT"/>
                <a:cs typeface="Arial MT"/>
              </a:rPr>
              <a:t>—</a:t>
            </a:r>
            <a:r>
              <a:rPr dirty="0" sz="800" spc="365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800" spc="-70">
                <a:solidFill>
                  <a:srgbClr val="707070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009373" y="921314"/>
            <a:ext cx="58419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40">
                <a:solidFill>
                  <a:srgbClr val="808080"/>
                </a:solidFill>
                <a:latin typeface="Arial MT"/>
                <a:cs typeface="Arial MT"/>
              </a:rPr>
              <a:t>-</a:t>
            </a:r>
            <a:r>
              <a:rPr dirty="0" sz="800" spc="-50">
                <a:solidFill>
                  <a:srgbClr val="808080"/>
                </a:solidFill>
                <a:latin typeface="Arial MT"/>
                <a:cs typeface="Arial MT"/>
              </a:rPr>
              <a:t>,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996776" y="1262036"/>
            <a:ext cx="154305" cy="468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25">
                <a:solidFill>
                  <a:srgbClr val="6B6B6B"/>
                </a:solidFill>
                <a:latin typeface="Arial MT"/>
                <a:cs typeface="Arial MT"/>
              </a:rPr>
              <a:t>.10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7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</a:pPr>
            <a:r>
              <a:rPr dirty="0" sz="850" spc="-80">
                <a:solidFill>
                  <a:srgbClr val="262626"/>
                </a:solidFill>
                <a:latin typeface="Arial MT"/>
                <a:cs typeface="Arial MT"/>
              </a:rPr>
              <a:t>-20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027585" y="2907688"/>
            <a:ext cx="91440" cy="1543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-55">
                <a:solidFill>
                  <a:srgbClr val="5D5D5D"/>
                </a:solidFill>
                <a:latin typeface="Arial MT"/>
                <a:cs typeface="Arial MT"/>
              </a:rPr>
              <a:t>’0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748290" y="2913301"/>
            <a:ext cx="13081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25">
                <a:solidFill>
                  <a:srgbClr val="696969"/>
                </a:solidFill>
                <a:latin typeface="Arial MT"/>
                <a:cs typeface="Arial MT"/>
              </a:rPr>
              <a:t>2n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367165" y="2900721"/>
            <a:ext cx="150495" cy="1543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-25">
                <a:solidFill>
                  <a:srgbClr val="525252"/>
                </a:solidFill>
                <a:latin typeface="Courier New"/>
                <a:cs typeface="Courier New"/>
              </a:rPr>
              <a:t>40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576771" y="3018489"/>
            <a:ext cx="34036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20">
                <a:solidFill>
                  <a:srgbClr val="383838"/>
                </a:solidFill>
                <a:latin typeface="Arial MT"/>
                <a:cs typeface="Arial MT"/>
              </a:rPr>
              <a:t>epochs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984317" y="2900721"/>
            <a:ext cx="146050" cy="1543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-25">
                <a:solidFill>
                  <a:srgbClr val="626262"/>
                </a:solidFill>
                <a:latin typeface="Courier New"/>
                <a:cs typeface="Courier New"/>
              </a:rPr>
              <a:t>60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796896" y="1154042"/>
            <a:ext cx="464184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>
                <a:solidFill>
                  <a:srgbClr val="2F2F2F"/>
                </a:solidFill>
                <a:latin typeface="Arial MT"/>
                <a:cs typeface="Arial MT"/>
              </a:rPr>
              <a:t>da</a:t>
            </a:r>
            <a:r>
              <a:rPr dirty="0" sz="750" spc="145">
                <a:solidFill>
                  <a:srgbClr val="2F2F2F"/>
                </a:solidFill>
                <a:latin typeface="Arial MT"/>
                <a:cs typeface="Arial MT"/>
              </a:rPr>
              <a:t>  </a:t>
            </a:r>
            <a:r>
              <a:rPr dirty="0" sz="750">
                <a:solidFill>
                  <a:srgbClr val="494949"/>
                </a:solidFill>
                <a:latin typeface="Arial MT"/>
                <a:cs typeface="Arial MT"/>
              </a:rPr>
              <a:t>n</a:t>
            </a:r>
            <a:r>
              <a:rPr dirty="0" sz="750" spc="-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dirty="0" sz="750" spc="1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750" spc="-50">
                <a:solidFill>
                  <a:srgbClr val="484848"/>
                </a:solidFill>
                <a:latin typeface="Arial MT"/>
                <a:cs typeface="Arial MT"/>
              </a:rPr>
              <a:t>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656475" y="3281507"/>
            <a:ext cx="3176905" cy="11093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57885">
              <a:lnSpc>
                <a:spcPct val="100000"/>
              </a:lnSpc>
              <a:spcBef>
                <a:spcPts val="130"/>
              </a:spcBef>
            </a:pPr>
            <a:r>
              <a:rPr dirty="0" sz="1650" spc="-110">
                <a:solidFill>
                  <a:srgbClr val="2B49CC"/>
                </a:solidFill>
                <a:latin typeface="Arial Black"/>
                <a:cs typeface="Arial Black"/>
              </a:rPr>
              <a:t>Training</a:t>
            </a:r>
            <a:r>
              <a:rPr dirty="0" sz="1650" spc="-95">
                <a:solidFill>
                  <a:srgbClr val="2B49CC"/>
                </a:solidFill>
                <a:latin typeface="Arial Black"/>
                <a:cs typeface="Arial Black"/>
              </a:rPr>
              <a:t> </a:t>
            </a:r>
            <a:r>
              <a:rPr dirty="0" sz="1650" spc="-85">
                <a:solidFill>
                  <a:srgbClr val="2D49B1"/>
                </a:solidFill>
                <a:latin typeface="Arial Black"/>
                <a:cs typeface="Arial Black"/>
              </a:rPr>
              <a:t>Configuration</a:t>
            </a:r>
            <a:endParaRPr sz="1650">
              <a:latin typeface="Arial Black"/>
              <a:cs typeface="Arial Black"/>
            </a:endParaRPr>
          </a:p>
          <a:p>
            <a:pPr marL="132715" indent="-120014">
              <a:lnSpc>
                <a:spcPct val="100000"/>
              </a:lnSpc>
              <a:spcBef>
                <a:spcPts val="925"/>
              </a:spcBef>
              <a:buChar char="•"/>
              <a:tabLst>
                <a:tab pos="132715" algn="l"/>
              </a:tabLst>
            </a:pPr>
            <a:r>
              <a:rPr dirty="0" sz="1050">
                <a:latin typeface="Arial MT"/>
                <a:cs typeface="Arial MT"/>
              </a:rPr>
              <a:t>Epochs:</a:t>
            </a:r>
            <a:r>
              <a:rPr dirty="0" sz="1050" spc="7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5,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-120">
                <a:latin typeface="Arial MT"/>
                <a:cs typeface="Arial MT"/>
              </a:rPr>
              <a:t>LR:</a:t>
            </a:r>
            <a:r>
              <a:rPr dirty="0" sz="1050" spc="90">
                <a:latin typeface="Arial MT"/>
                <a:cs typeface="Arial MT"/>
              </a:rPr>
              <a:t> </a:t>
            </a:r>
            <a:r>
              <a:rPr dirty="0" sz="1050" spc="75">
                <a:latin typeface="Arial MT"/>
                <a:cs typeface="Arial MT"/>
              </a:rPr>
              <a:t>3e-</a:t>
            </a:r>
            <a:r>
              <a:rPr dirty="0" sz="1050" spc="35">
                <a:latin typeface="Arial MT"/>
                <a:cs typeface="Arial MT"/>
              </a:rPr>
              <a:t>5</a:t>
            </a:r>
            <a:endParaRPr sz="1050">
              <a:latin typeface="Arial MT"/>
              <a:cs typeface="Arial MT"/>
            </a:endParaRPr>
          </a:p>
          <a:p>
            <a:pPr marL="130175" indent="-117475">
              <a:lnSpc>
                <a:spcPct val="100000"/>
              </a:lnSpc>
              <a:spcBef>
                <a:spcPts val="935"/>
              </a:spcBef>
              <a:buChar char="•"/>
              <a:tabLst>
                <a:tab pos="130175" algn="l"/>
              </a:tabLst>
            </a:pPr>
            <a:r>
              <a:rPr dirty="0" sz="1050">
                <a:latin typeface="Arial MT"/>
                <a:cs typeface="Arial MT"/>
              </a:rPr>
              <a:t>Optimizer:</a:t>
            </a:r>
            <a:r>
              <a:rPr dirty="0" sz="1050" spc="484">
                <a:latin typeface="Arial MT"/>
                <a:cs typeface="Arial MT"/>
              </a:rPr>
              <a:t> </a:t>
            </a:r>
            <a:r>
              <a:rPr dirty="0" sz="1050" spc="40">
                <a:latin typeface="Arial MT"/>
                <a:cs typeface="Arial MT"/>
              </a:rPr>
              <a:t>AdomW</a:t>
            </a:r>
            <a:endParaRPr sz="1050">
              <a:latin typeface="Arial MT"/>
              <a:cs typeface="Arial MT"/>
            </a:endParaRPr>
          </a:p>
          <a:p>
            <a:pPr marL="133985" indent="-121285">
              <a:lnSpc>
                <a:spcPct val="100000"/>
              </a:lnSpc>
              <a:spcBef>
                <a:spcPts val="880"/>
              </a:spcBef>
              <a:buChar char="•"/>
              <a:tabLst>
                <a:tab pos="133985" algn="l"/>
              </a:tabLst>
            </a:pPr>
            <a:r>
              <a:rPr dirty="0" sz="1050" spc="60">
                <a:latin typeface="Arial MT"/>
                <a:cs typeface="Arial MT"/>
              </a:rPr>
              <a:t>Batch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size:</a:t>
            </a:r>
            <a:r>
              <a:rPr dirty="0" sz="1050" spc="-114">
                <a:latin typeface="Arial MT"/>
                <a:cs typeface="Arial MT"/>
              </a:rPr>
              <a:t> </a:t>
            </a:r>
            <a:r>
              <a:rPr dirty="0" sz="1050" spc="-25">
                <a:latin typeface="Arial MT"/>
                <a:cs typeface="Arial MT"/>
              </a:rPr>
              <a:t>16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244233" y="2925881"/>
            <a:ext cx="178435" cy="123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25">
                <a:solidFill>
                  <a:srgbClr val="696969"/>
                </a:solidFill>
                <a:latin typeface="Arial MT"/>
                <a:cs typeface="Arial MT"/>
              </a:rPr>
              <a:t>10</a:t>
            </a:r>
            <a:r>
              <a:rPr dirty="0" sz="650" spc="-25">
                <a:solidFill>
                  <a:srgbClr val="7C7C7C"/>
                </a:solidFill>
                <a:latin typeface="Arial MT"/>
                <a:cs typeface="Arial MT"/>
              </a:rPr>
              <a:t>U</a:t>
            </a:r>
            <a:endParaRPr sz="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2705735" cy="497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Results</a:t>
            </a:r>
            <a:r>
              <a:rPr dirty="0" sz="1800" spc="-445"/>
              <a:t> </a:t>
            </a:r>
            <a:r>
              <a:rPr dirty="0" sz="3100" spc="-10"/>
              <a:t>&amp;</a:t>
            </a:r>
            <a:r>
              <a:rPr dirty="0" sz="1800" spc="-10"/>
              <a:t>Evaluation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2374900" y="863600"/>
            <a:ext cx="111061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Courier New"/>
                <a:cs typeface="Courier New"/>
              </a:rPr>
              <a:t>Performance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Metrics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79500" y="1168400"/>
            <a:ext cx="11747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Courier New"/>
                <a:cs typeface="Courier New"/>
              </a:rPr>
              <a:t>100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19400" y="1155700"/>
            <a:ext cx="39370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latin typeface="Courier New"/>
                <a:cs typeface="Courier New"/>
              </a:rPr>
              <a:t>Accuracy</a:t>
            </a:r>
            <a:r>
              <a:rPr dirty="0" sz="500" spc="-105">
                <a:latin typeface="Courier New"/>
                <a:cs typeface="Courier New"/>
              </a:rPr>
              <a:t> </a:t>
            </a:r>
            <a:r>
              <a:rPr dirty="0" sz="500" spc="-50">
                <a:latin typeface="Courier New"/>
                <a:cs typeface="Courier New"/>
              </a:rPr>
              <a:t>%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04900" y="1625600"/>
            <a:ext cx="10223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latin typeface="Courier New"/>
                <a:cs typeface="Courier New"/>
              </a:rPr>
              <a:t>80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4900" y="2082800"/>
            <a:ext cx="10223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latin typeface="Courier New"/>
                <a:cs typeface="Courier New"/>
              </a:rPr>
              <a:t>60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04900" y="2527300"/>
            <a:ext cx="10223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latin typeface="Courier New"/>
                <a:cs typeface="Courier New"/>
              </a:rPr>
              <a:t>40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05500" y="2438400"/>
            <a:ext cx="757555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20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Training</a:t>
            </a:r>
            <a:endParaRPr sz="1200">
              <a:latin typeface="Courier New"/>
              <a:cs typeface="Courier New"/>
            </a:endParaRPr>
          </a:p>
          <a:p>
            <a:pPr marL="63500">
              <a:lnSpc>
                <a:spcPts val="1180"/>
              </a:lnSpc>
            </a:pPr>
            <a:r>
              <a:rPr dirty="0" sz="1000" spc="-10">
                <a:latin typeface="Courier New"/>
                <a:cs typeface="Courier New"/>
              </a:rPr>
              <a:t>Results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78700" y="2332735"/>
            <a:ext cx="940435" cy="46164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200" spc="-10">
                <a:latin typeface="Courier New"/>
                <a:cs typeface="Courier New"/>
              </a:rPr>
              <a:t>Validation</a:t>
            </a:r>
            <a:endParaRPr sz="1200">
              <a:latin typeface="Courier New"/>
              <a:cs typeface="Courier New"/>
            </a:endParaRPr>
          </a:p>
          <a:p>
            <a:pPr marL="152400">
              <a:lnSpc>
                <a:spcPct val="100000"/>
              </a:lnSpc>
              <a:spcBef>
                <a:spcPts val="360"/>
              </a:spcBef>
            </a:pPr>
            <a:r>
              <a:rPr dirty="0" sz="1000" spc="-10">
                <a:latin typeface="Courier New"/>
                <a:cs typeface="Courier New"/>
              </a:rPr>
              <a:t>Results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04900" y="2984500"/>
            <a:ext cx="10223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latin typeface="Courier New"/>
                <a:cs typeface="Courier New"/>
              </a:rPr>
              <a:t>20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53100" y="2867660"/>
            <a:ext cx="1067435" cy="43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48100"/>
              </a:lnSpc>
              <a:spcBef>
                <a:spcPts val="100"/>
              </a:spcBef>
            </a:pPr>
            <a:r>
              <a:rPr dirty="0" sz="900" spc="-10">
                <a:latin typeface="Courier New"/>
                <a:cs typeface="Courier New"/>
              </a:rPr>
              <a:t>Training </a:t>
            </a:r>
            <a:r>
              <a:rPr dirty="0" sz="900">
                <a:latin typeface="Courier New"/>
                <a:cs typeface="Courier New"/>
              </a:rPr>
              <a:t>Accuracy:</a:t>
            </a:r>
            <a:r>
              <a:rPr dirty="0" sz="900" spc="9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92.1%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02500" y="2837433"/>
            <a:ext cx="1092835" cy="46482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 indent="190500">
              <a:lnSpc>
                <a:spcPct val="157400"/>
              </a:lnSpc>
              <a:spcBef>
                <a:spcPts val="35"/>
              </a:spcBef>
            </a:pPr>
            <a:r>
              <a:rPr dirty="0" sz="900" spc="-10">
                <a:latin typeface="Courier New"/>
                <a:cs typeface="Courier New"/>
              </a:rPr>
              <a:t>Validation </a:t>
            </a:r>
            <a:r>
              <a:rPr dirty="0" sz="900">
                <a:latin typeface="Courier New"/>
                <a:cs typeface="Courier New"/>
              </a:rPr>
              <a:t>Accuracy:</a:t>
            </a:r>
            <a:r>
              <a:rPr dirty="0" sz="900" spc="-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89.3%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/>
              <a:t>Confusion</a:t>
            </a:r>
            <a:r>
              <a:rPr dirty="0" spc="-605"/>
              <a:t> </a:t>
            </a:r>
            <a:r>
              <a:rPr dirty="0" sz="1800"/>
              <a:t>Matrix</a:t>
            </a:r>
            <a:r>
              <a:rPr dirty="0" sz="1800" spc="-165"/>
              <a:t> </a:t>
            </a:r>
            <a:r>
              <a:rPr dirty="0" baseline="-3086" sz="2700" spc="-15"/>
              <a:t>Analysis</a:t>
            </a:r>
            <a:endParaRPr baseline="-3086" sz="2700"/>
          </a:p>
        </p:txBody>
      </p:sp>
      <p:sp>
        <p:nvSpPr>
          <p:cNvPr id="3" name="object 3" descr=""/>
          <p:cNvSpPr txBox="1"/>
          <p:nvPr/>
        </p:nvSpPr>
        <p:spPr>
          <a:xfrm>
            <a:off x="1371600" y="1143000"/>
            <a:ext cx="1384935" cy="16510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80"/>
              </a:spcBef>
            </a:pPr>
            <a:r>
              <a:rPr dirty="0" sz="400">
                <a:latin typeface="Courier New"/>
                <a:cs typeface="Courier New"/>
              </a:rPr>
              <a:t>Ponfusion</a:t>
            </a:r>
            <a:r>
              <a:rPr dirty="0" sz="400" spc="415">
                <a:latin typeface="Courier New"/>
                <a:cs typeface="Courier New"/>
              </a:rPr>
              <a:t> </a:t>
            </a:r>
            <a:r>
              <a:rPr dirty="0" sz="400">
                <a:latin typeface="Courier New"/>
                <a:cs typeface="Courier New"/>
              </a:rPr>
              <a:t>aiotrdoata</a:t>
            </a:r>
            <a:r>
              <a:rPr dirty="0" sz="400" spc="370">
                <a:latin typeface="Courier New"/>
                <a:cs typeface="Courier New"/>
              </a:rPr>
              <a:t> </a:t>
            </a:r>
            <a:r>
              <a:rPr dirty="0" sz="400">
                <a:latin typeface="Courier New"/>
                <a:cs typeface="Courier New"/>
              </a:rPr>
              <a:t>Positive</a:t>
            </a:r>
            <a:r>
              <a:rPr dirty="0" sz="400" spc="145">
                <a:latin typeface="Courier New"/>
                <a:cs typeface="Courier New"/>
              </a:rPr>
              <a:t> </a:t>
            </a:r>
            <a:r>
              <a:rPr dirty="0" sz="400" spc="-10">
                <a:latin typeface="Courier New"/>
                <a:cs typeface="Courier New"/>
              </a:rPr>
              <a:t>Negatival </a:t>
            </a:r>
            <a:r>
              <a:rPr dirty="0" sz="400">
                <a:latin typeface="Courier New"/>
                <a:cs typeface="Courier New"/>
              </a:rPr>
              <a:t>sentraliment</a:t>
            </a:r>
            <a:r>
              <a:rPr dirty="0" sz="400" spc="135">
                <a:latin typeface="Courier New"/>
                <a:cs typeface="Courier New"/>
              </a:rPr>
              <a:t>  </a:t>
            </a:r>
            <a:r>
              <a:rPr dirty="0" sz="400">
                <a:latin typeface="Courier New"/>
                <a:cs typeface="Courier New"/>
              </a:rPr>
              <a:t>classification</a:t>
            </a:r>
            <a:r>
              <a:rPr dirty="0" sz="400" spc="210">
                <a:latin typeface="Courier New"/>
                <a:cs typeface="Courier New"/>
              </a:rPr>
              <a:t> </a:t>
            </a:r>
            <a:r>
              <a:rPr dirty="0" sz="500" spc="-10">
                <a:latin typeface="Courier New"/>
                <a:cs typeface="Courier New"/>
              </a:rPr>
              <a:t>performance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1300" y="1155700"/>
            <a:ext cx="18167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Courier New"/>
                <a:cs typeface="Courier New"/>
              </a:rPr>
              <a:t>Key</a:t>
            </a:r>
            <a:r>
              <a:rPr dirty="0" sz="1600" spc="-545">
                <a:latin typeface="Courier New"/>
                <a:cs typeface="Courier New"/>
              </a:rPr>
              <a:t> </a:t>
            </a:r>
            <a:r>
              <a:rPr dirty="0" sz="1500" spc="-10">
                <a:latin typeface="Courier New"/>
                <a:cs typeface="Courier New"/>
              </a:rPr>
              <a:t>Observations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1300" y="1473200"/>
            <a:ext cx="11156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Courier New"/>
                <a:cs typeface="Courier New"/>
              </a:rPr>
              <a:t>Most</a:t>
            </a:r>
            <a:r>
              <a:rPr dirty="0" sz="1000" spc="-30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classification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08600" y="1498600"/>
            <a:ext cx="3917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Courier New"/>
                <a:cs typeface="Courier New"/>
              </a:rPr>
              <a:t>errors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38600" y="1556173"/>
            <a:ext cx="1837055" cy="511809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000">
                <a:latin typeface="Courier New"/>
                <a:cs typeface="Courier New"/>
              </a:rPr>
              <a:t>occur</a:t>
            </a:r>
            <a:r>
              <a:rPr dirty="0" sz="1000" spc="-30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between</a:t>
            </a:r>
            <a:r>
              <a:rPr dirty="0" sz="1000" spc="-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Neutral</a:t>
            </a:r>
            <a:r>
              <a:rPr dirty="0" sz="900" spc="-325">
                <a:latin typeface="Courier New"/>
                <a:cs typeface="Courier New"/>
              </a:rPr>
              <a:t> </a:t>
            </a:r>
            <a:r>
              <a:rPr dirty="0" sz="1200" spc="-25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560"/>
              </a:spcBef>
            </a:pPr>
            <a:r>
              <a:rPr dirty="0" sz="900">
                <a:latin typeface="Courier New"/>
                <a:cs typeface="Courier New"/>
              </a:rPr>
              <a:t>Negative</a:t>
            </a:r>
            <a:r>
              <a:rPr dirty="0" sz="900" spc="3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sentiments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88100" y="1168400"/>
            <a:ext cx="1771014" cy="114046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50800" marR="454025" indent="-12700">
              <a:lnSpc>
                <a:spcPts val="1500"/>
              </a:lnSpc>
              <a:spcBef>
                <a:spcPts val="400"/>
              </a:spcBef>
            </a:pPr>
            <a:r>
              <a:rPr dirty="0" sz="1500" spc="-10">
                <a:latin typeface="Courier New"/>
                <a:cs typeface="Courier New"/>
              </a:rPr>
              <a:t>Strong Performance</a:t>
            </a:r>
            <a:endParaRPr sz="1500">
              <a:latin typeface="Courier New"/>
              <a:cs typeface="Courier New"/>
            </a:endParaRPr>
          </a:p>
          <a:p>
            <a:pPr marL="50800" marR="30480">
              <a:lnSpc>
                <a:spcPct val="141700"/>
              </a:lnSpc>
              <a:spcBef>
                <a:spcPts val="500"/>
              </a:spcBef>
            </a:pPr>
            <a:r>
              <a:rPr dirty="0" sz="800">
                <a:latin typeface="Courier New"/>
                <a:cs typeface="Courier New"/>
              </a:rPr>
              <a:t>Positive</a:t>
            </a:r>
            <a:r>
              <a:rPr dirty="0" sz="800" spc="-1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reviews</a:t>
            </a:r>
            <a:r>
              <a:rPr dirty="0" sz="900" spc="-105">
                <a:latin typeface="Courier New"/>
                <a:cs typeface="Courier New"/>
              </a:rPr>
              <a:t> </a:t>
            </a:r>
            <a:r>
              <a:rPr dirty="0" sz="1000" spc="-25">
                <a:latin typeface="Courier New"/>
                <a:cs typeface="Courier New"/>
              </a:rPr>
              <a:t>are </a:t>
            </a:r>
            <a:r>
              <a:rPr dirty="0" sz="900" spc="-10">
                <a:latin typeface="Courier New"/>
                <a:cs typeface="Courier New"/>
              </a:rPr>
              <a:t>consistently</a:t>
            </a:r>
            <a:r>
              <a:rPr dirty="0" baseline="5555" sz="1500" spc="-15">
                <a:latin typeface="Courier New"/>
                <a:cs typeface="Courier New"/>
              </a:rPr>
              <a:t>the</a:t>
            </a:r>
            <a:r>
              <a:rPr dirty="0" baseline="5555" sz="1500" spc="-562">
                <a:latin typeface="Courier New"/>
                <a:cs typeface="Courier New"/>
              </a:rPr>
              <a:t> </a:t>
            </a:r>
            <a:r>
              <a:rPr dirty="0" baseline="6172" sz="1350">
                <a:latin typeface="Courier New"/>
                <a:cs typeface="Courier New"/>
              </a:rPr>
              <a:t>easiest</a:t>
            </a:r>
            <a:r>
              <a:rPr dirty="0" baseline="6172" sz="1350" spc="-434">
                <a:latin typeface="Courier New"/>
                <a:cs typeface="Courier New"/>
              </a:rPr>
              <a:t> </a:t>
            </a:r>
            <a:r>
              <a:rPr dirty="0" baseline="15873" sz="1050" spc="-37">
                <a:latin typeface="Courier New"/>
                <a:cs typeface="Courier New"/>
              </a:rPr>
              <a:t>to </a:t>
            </a:r>
            <a:r>
              <a:rPr dirty="0" sz="900" spc="-10">
                <a:latin typeface="Courier New"/>
                <a:cs typeface="Courier New"/>
              </a:rPr>
              <a:t>classifyaccurately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171700" y="3721100"/>
            <a:ext cx="11747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Courier New"/>
                <a:cs typeface="Courier New"/>
              </a:rPr>
              <a:t>200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25700" y="3721100"/>
            <a:ext cx="11747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Courier New"/>
                <a:cs typeface="Courier New"/>
              </a:rPr>
              <a:t>220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679700" y="3708400"/>
            <a:ext cx="11747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Courier New"/>
                <a:cs typeface="Courier New"/>
              </a:rPr>
              <a:t>230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933700" y="3721100"/>
            <a:ext cx="11747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Courier New"/>
                <a:cs typeface="Courier New"/>
              </a:rPr>
              <a:t>262</a:t>
            </a:r>
            <a:endParaRPr sz="400">
              <a:latin typeface="Courier New"/>
              <a:cs typeface="Courier New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70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 sz="1700" spc="-10"/>
              <a:t>Explainability</a:t>
            </a:r>
            <a:r>
              <a:rPr dirty="0" sz="1700" spc="-210"/>
              <a:t> </a:t>
            </a:r>
            <a:r>
              <a:rPr dirty="0" baseline="6172" sz="2700"/>
              <a:t>with</a:t>
            </a:r>
            <a:r>
              <a:rPr dirty="0" baseline="6172" sz="2700" spc="-307"/>
              <a:t> </a:t>
            </a:r>
            <a:r>
              <a:rPr dirty="0" baseline="5555" sz="3000" spc="-15"/>
              <a:t>sHAP/LIME</a:t>
            </a:r>
            <a:endParaRPr baseline="5555"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711200" y="1118325"/>
            <a:ext cx="1252855" cy="118554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38100" marR="30480">
              <a:lnSpc>
                <a:spcPct val="113399"/>
              </a:lnSpc>
              <a:spcBef>
                <a:spcPts val="20"/>
              </a:spcBef>
            </a:pPr>
            <a:r>
              <a:rPr dirty="0" sz="1700" spc="-10">
                <a:latin typeface="Courier New"/>
                <a:cs typeface="Courier New"/>
              </a:rPr>
              <a:t>Example </a:t>
            </a:r>
            <a:r>
              <a:rPr dirty="0" sz="1400" spc="-10">
                <a:latin typeface="Courier New"/>
                <a:cs typeface="Courier New"/>
              </a:rPr>
              <a:t>Analysis </a:t>
            </a:r>
            <a:r>
              <a:rPr dirty="0" sz="900">
                <a:latin typeface="Courier New"/>
                <a:cs typeface="Courier New"/>
              </a:rPr>
              <a:t>Review:</a:t>
            </a:r>
            <a:r>
              <a:rPr dirty="0" sz="900" spc="-22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'Food</a:t>
            </a:r>
            <a:r>
              <a:rPr dirty="0" sz="900" spc="-245">
                <a:latin typeface="Courier New"/>
                <a:cs typeface="Courier New"/>
              </a:rPr>
              <a:t> </a:t>
            </a:r>
            <a:r>
              <a:rPr dirty="0" sz="1200" spc="-25">
                <a:latin typeface="Courier New"/>
                <a:cs typeface="Courier New"/>
              </a:rPr>
              <a:t>was</a:t>
            </a:r>
            <a:endParaRPr sz="1200">
              <a:latin typeface="Courier New"/>
              <a:cs typeface="Courier New"/>
            </a:endParaRPr>
          </a:p>
          <a:p>
            <a:pPr marL="38100" marR="93980">
              <a:lnSpc>
                <a:spcPct val="108300"/>
              </a:lnSpc>
              <a:spcBef>
                <a:spcPts val="459"/>
              </a:spcBef>
            </a:pPr>
            <a:r>
              <a:rPr dirty="0" sz="1000">
                <a:latin typeface="Courier New"/>
                <a:cs typeface="Courier New"/>
              </a:rPr>
              <a:t>amazing</a:t>
            </a:r>
            <a:r>
              <a:rPr dirty="0" sz="1000" spc="95">
                <a:latin typeface="Courier New"/>
                <a:cs typeface="Courier New"/>
              </a:rPr>
              <a:t> </a:t>
            </a:r>
            <a:r>
              <a:rPr dirty="0" baseline="6172" sz="1350" spc="-37">
                <a:latin typeface="Courier New"/>
                <a:cs typeface="Courier New"/>
              </a:rPr>
              <a:t>but </a:t>
            </a:r>
            <a:r>
              <a:rPr dirty="0" sz="900">
                <a:latin typeface="Courier New"/>
                <a:cs typeface="Courier New"/>
              </a:rPr>
              <a:t>service</a:t>
            </a:r>
            <a:r>
              <a:rPr dirty="0" sz="900" spc="-32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was</a:t>
            </a:r>
            <a:r>
              <a:rPr dirty="0" sz="1200" spc="-280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slow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24100" y="1127760"/>
            <a:ext cx="11995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 spc="-10">
                <a:latin typeface="Courier New"/>
                <a:cs typeface="Courier New"/>
              </a:rPr>
              <a:t>Positive Contributio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11600" y="1181100"/>
            <a:ext cx="1199515" cy="429259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 indent="12700">
              <a:lnSpc>
                <a:spcPts val="1500"/>
              </a:lnSpc>
              <a:spcBef>
                <a:spcPts val="300"/>
              </a:spcBef>
            </a:pPr>
            <a:r>
              <a:rPr dirty="0" sz="1400" spc="-10">
                <a:latin typeface="Courier New"/>
                <a:cs typeface="Courier New"/>
              </a:rPr>
              <a:t>Negative Contributio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11600" y="1943354"/>
            <a:ext cx="1105535" cy="3683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558165" algn="l"/>
              </a:tabLst>
            </a:pPr>
            <a:r>
              <a:rPr dirty="0" sz="900" spc="-10">
                <a:latin typeface="Courier New"/>
                <a:cs typeface="Courier New"/>
              </a:rPr>
              <a:t>'slow'</a:t>
            </a:r>
            <a:r>
              <a:rPr dirty="0" sz="900">
                <a:latin typeface="Courier New"/>
                <a:cs typeface="Courier New"/>
              </a:rPr>
              <a:t>	-</a:t>
            </a:r>
            <a:r>
              <a:rPr dirty="0" sz="900" spc="-20">
                <a:latin typeface="Courier New"/>
                <a:cs typeface="Courier New"/>
              </a:rPr>
              <a:t>0.52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1000" spc="-10">
                <a:latin typeface="Courier New"/>
                <a:cs typeface="Courier New"/>
              </a:rPr>
              <a:t>sentimentscore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75400" y="1092200"/>
            <a:ext cx="1425575" cy="721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ts val="2130"/>
              </a:lnSpc>
              <a:spcBef>
                <a:spcPts val="100"/>
              </a:spcBef>
            </a:pPr>
            <a:r>
              <a:rPr dirty="0" sz="1800" spc="-20">
                <a:latin typeface="Courier New"/>
                <a:cs typeface="Courier New"/>
              </a:rPr>
              <a:t>SHAP</a:t>
            </a:r>
            <a:endParaRPr sz="1800">
              <a:latin typeface="Courier New"/>
              <a:cs typeface="Courier New"/>
            </a:endParaRPr>
          </a:p>
          <a:p>
            <a:pPr marL="25400" marR="5080" indent="-12700">
              <a:lnSpc>
                <a:spcPts val="1700"/>
              </a:lnSpc>
              <a:spcBef>
                <a:spcPts val="10"/>
              </a:spcBef>
            </a:pPr>
            <a:r>
              <a:rPr dirty="0" sz="1400">
                <a:latin typeface="Courier New"/>
                <a:cs typeface="Courier New"/>
              </a:rPr>
              <a:t>Token-</a:t>
            </a:r>
            <a:r>
              <a:rPr dirty="0" sz="1400" spc="-10">
                <a:latin typeface="Courier New"/>
                <a:cs typeface="Courier New"/>
              </a:rPr>
              <a:t>leivel Contributions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734300" y="1981200"/>
            <a:ext cx="17843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0">
                <a:latin typeface="Courier New"/>
                <a:cs typeface="Courier New"/>
              </a:rPr>
              <a:t>Elore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24100" y="1993900"/>
            <a:ext cx="111823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ourier New"/>
                <a:cs typeface="Courier New"/>
              </a:rPr>
              <a:t>'amazing'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00">
                <a:latin typeface="Courier New"/>
                <a:cs typeface="Courier New"/>
              </a:rPr>
              <a:t>+0.68</a:t>
            </a:r>
            <a:r>
              <a:rPr dirty="0" sz="1000" spc="-40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sentiment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00" spc="-10">
                <a:latin typeface="Courier New"/>
                <a:cs typeface="Courier New"/>
              </a:rPr>
              <a:t>SCore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934200" y="2527300"/>
            <a:ext cx="48323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latin typeface="Courier New"/>
                <a:cs typeface="Courier New"/>
              </a:rPr>
              <a:t>57!?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632700" y="3225800"/>
            <a:ext cx="25463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Courier New"/>
                <a:cs typeface="Courier New"/>
              </a:rPr>
              <a:t>B6ösre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38900" y="3492500"/>
            <a:ext cx="14795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0">
                <a:latin typeface="Courier New"/>
                <a:cs typeface="Courier New"/>
              </a:rPr>
              <a:t>Solm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858000" y="3492500"/>
            <a:ext cx="55435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8465" algn="l"/>
              </a:tabLst>
            </a:pPr>
            <a:r>
              <a:rPr dirty="0" sz="400" spc="-20">
                <a:latin typeface="Courier New"/>
                <a:cs typeface="Courier New"/>
              </a:rPr>
              <a:t>Soln</a:t>
            </a:r>
            <a:r>
              <a:rPr dirty="0" sz="400">
                <a:latin typeface="Courier New"/>
                <a:cs typeface="Courier New"/>
              </a:rPr>
              <a:t>	</a:t>
            </a:r>
            <a:r>
              <a:rPr dirty="0" sz="400" spc="-20">
                <a:latin typeface="Courier New"/>
                <a:cs typeface="Courier New"/>
              </a:rPr>
              <a:t>Scim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62700" y="3937000"/>
            <a:ext cx="30035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0">
                <a:latin typeface="Courier New"/>
                <a:cs typeface="Courier New"/>
              </a:rPr>
              <a:t>Roscience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19900" y="3937000"/>
            <a:ext cx="71691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</a:tabLst>
            </a:pPr>
            <a:r>
              <a:rPr dirty="0" sz="400" spc="-10">
                <a:latin typeface="Courier New"/>
                <a:cs typeface="Courier New"/>
              </a:rPr>
              <a:t>Potolae</a:t>
            </a:r>
            <a:r>
              <a:rPr dirty="0" sz="400">
                <a:latin typeface="Courier New"/>
                <a:cs typeface="Courier New"/>
              </a:rPr>
              <a:t>	</a:t>
            </a:r>
            <a:r>
              <a:rPr dirty="0" sz="400" spc="-10">
                <a:latin typeface="Courier New"/>
                <a:cs typeface="Courier New"/>
              </a:rPr>
              <a:t>Plassrtance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658100" y="3937000"/>
            <a:ext cx="20891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0">
                <a:latin typeface="Courier New"/>
                <a:cs typeface="Courier New"/>
              </a:rPr>
              <a:t>Scoree</a:t>
            </a:r>
            <a:endParaRPr sz="4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6200" y="4851400"/>
            <a:ext cx="8699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Courier New"/>
                <a:cs typeface="Courier New"/>
              </a:rPr>
              <a:t>10</a:t>
            </a:r>
            <a:endParaRPr sz="400">
              <a:latin typeface="Courier New"/>
              <a:cs typeface="Courier New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6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dirty="0" spc="-605"/>
              <a:t> </a:t>
            </a:r>
            <a:r>
              <a:rPr dirty="0" sz="3000"/>
              <a:t>&amp;</a:t>
            </a:r>
            <a:r>
              <a:rPr dirty="0" sz="3000" spc="-1505"/>
              <a:t> </a:t>
            </a:r>
            <a:r>
              <a:rPr dirty="0"/>
              <a:t>Future</a:t>
            </a:r>
            <a:r>
              <a:rPr dirty="0" spc="-1005"/>
              <a:t> </a:t>
            </a:r>
            <a:r>
              <a:rPr dirty="0" sz="2300" spc="-20"/>
              <a:t>Work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584200" y="1206500"/>
            <a:ext cx="7328534" cy="20853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ourier New"/>
                <a:cs typeface="Courier New"/>
              </a:rPr>
              <a:t>Project</a:t>
            </a:r>
            <a:r>
              <a:rPr dirty="0" sz="1500" spc="-10">
                <a:latin typeface="Courier New"/>
                <a:cs typeface="Courier New"/>
              </a:rPr>
              <a:t>Achievements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900">
                <a:latin typeface="Courier New"/>
                <a:cs typeface="Courier New"/>
              </a:rPr>
              <a:t>Successfully</a:t>
            </a:r>
            <a:r>
              <a:rPr dirty="0" sz="900" spc="-42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developed</a:t>
            </a:r>
            <a:r>
              <a:rPr dirty="0" sz="1000" spc="-9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multilingual</a:t>
            </a:r>
            <a:r>
              <a:rPr dirty="0" sz="1000">
                <a:latin typeface="Courier New"/>
                <a:cs typeface="Courier New"/>
              </a:rPr>
              <a:t>ABSA</a:t>
            </a:r>
            <a:r>
              <a:rPr dirty="0" sz="1000" spc="-9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model</a:t>
            </a:r>
            <a:r>
              <a:rPr dirty="0" sz="1000" spc="1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handling</a:t>
            </a:r>
            <a:r>
              <a:rPr dirty="0" sz="900" spc="15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English,</a:t>
            </a:r>
            <a:r>
              <a:rPr dirty="0" sz="800" spc="-21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Hindi,</a:t>
            </a:r>
            <a:r>
              <a:rPr dirty="0" sz="800" spc="-16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Hinglish</a:t>
            </a:r>
            <a:r>
              <a:rPr dirty="0" sz="800" spc="-1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with</a:t>
            </a:r>
            <a:r>
              <a:rPr dirty="0" sz="900" spc="-19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aspect-wise</a:t>
            </a:r>
            <a:r>
              <a:rPr dirty="0" sz="1000" spc="-40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insights</a:t>
            </a:r>
            <a:r>
              <a:rPr dirty="0" sz="1000" spc="-10">
                <a:latin typeface="Courier New"/>
                <a:cs typeface="Courier New"/>
              </a:rPr>
              <a:t>and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700" spc="-10">
                <a:latin typeface="Courier New"/>
                <a:cs typeface="Courier New"/>
              </a:rPr>
              <a:t>explainability.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ourier New"/>
                <a:cs typeface="Courier New"/>
              </a:rPr>
              <a:t>Future</a:t>
            </a:r>
            <a:r>
              <a:rPr dirty="0" sz="1200" spc="-43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Enhancements</a:t>
            </a:r>
            <a:endParaRPr sz="1400">
              <a:latin typeface="Courier New"/>
              <a:cs typeface="Courier New"/>
            </a:endParaRPr>
          </a:p>
          <a:p>
            <a:pPr marL="138430" indent="-125730">
              <a:lnSpc>
                <a:spcPct val="100000"/>
              </a:lnSpc>
              <a:spcBef>
                <a:spcPts val="720"/>
              </a:spcBef>
              <a:buSzPct val="140000"/>
              <a:buChar char="•"/>
              <a:tabLst>
                <a:tab pos="138430" algn="l"/>
              </a:tabLst>
            </a:pPr>
            <a:r>
              <a:rPr dirty="0" sz="1000">
                <a:latin typeface="Courier New"/>
                <a:cs typeface="Courier New"/>
              </a:rPr>
              <a:t>Add</a:t>
            </a:r>
            <a:r>
              <a:rPr dirty="0" sz="1000" spc="-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sarcasm</a:t>
            </a:r>
            <a:r>
              <a:rPr dirty="0" sz="1000" spc="-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detection</a:t>
            </a:r>
            <a:r>
              <a:rPr dirty="0" sz="900" spc="-204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capabilities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20">
                <a:latin typeface="Courier New"/>
                <a:cs typeface="Courier New"/>
              </a:rPr>
              <a:t>•</a:t>
            </a:r>
            <a:r>
              <a:rPr dirty="0" sz="1000" spc="-20">
                <a:latin typeface="Courier New"/>
                <a:cs typeface="Courier New"/>
              </a:rPr>
              <a:t>Expand</a:t>
            </a:r>
            <a:r>
              <a:rPr dirty="0" sz="1000" spc="-11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Hindi/Hinglishdataset</a:t>
            </a:r>
            <a:endParaRPr sz="900">
              <a:latin typeface="Courier New"/>
              <a:cs typeface="Courier New"/>
            </a:endParaRPr>
          </a:p>
          <a:p>
            <a:pPr marL="76200">
              <a:lnSpc>
                <a:spcPct val="100000"/>
              </a:lnSpc>
              <a:spcBef>
                <a:spcPts val="520"/>
              </a:spcBef>
            </a:pPr>
            <a:r>
              <a:rPr dirty="0" sz="1100" spc="-35">
                <a:latin typeface="Courier New"/>
                <a:cs typeface="Courier New"/>
              </a:rPr>
              <a:t>•</a:t>
            </a:r>
            <a:r>
              <a:rPr dirty="0" sz="900" spc="-35">
                <a:latin typeface="Courier New"/>
                <a:cs typeface="Courier New"/>
              </a:rPr>
              <a:t>Real-</a:t>
            </a:r>
            <a:r>
              <a:rPr dirty="0" sz="900">
                <a:latin typeface="Courier New"/>
                <a:cs typeface="Courier New"/>
              </a:rPr>
              <a:t>time</a:t>
            </a:r>
            <a:r>
              <a:rPr dirty="0" sz="900" spc="12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restaurant</a:t>
            </a:r>
            <a:r>
              <a:rPr dirty="0" sz="900" spc="-23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dashboard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16000" y="3619500"/>
            <a:ext cx="1534795" cy="518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Mobile</a:t>
            </a:r>
            <a:r>
              <a:rPr dirty="0" sz="1200" spc="-229">
                <a:latin typeface="Courier New"/>
                <a:cs typeface="Courier New"/>
              </a:rPr>
              <a:t> </a:t>
            </a:r>
            <a:r>
              <a:rPr dirty="0" baseline="-3703" sz="2250" spc="-37">
                <a:latin typeface="Courier New"/>
                <a:cs typeface="Courier New"/>
              </a:rPr>
              <a:t>App</a:t>
            </a:r>
            <a:endParaRPr baseline="-3703" sz="22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dirty="0" sz="900">
                <a:latin typeface="Courier New"/>
                <a:cs typeface="Courier New"/>
              </a:rPr>
              <a:t>Deploy</a:t>
            </a:r>
            <a:r>
              <a:rPr dirty="0" sz="900" spc="114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mobile</a:t>
            </a:r>
            <a:r>
              <a:rPr dirty="0" sz="900" spc="15">
                <a:latin typeface="Courier New"/>
                <a:cs typeface="Courier New"/>
              </a:rPr>
              <a:t> </a:t>
            </a:r>
            <a:r>
              <a:rPr dirty="0" baseline="6172" sz="1350" spc="-15">
                <a:latin typeface="Courier New"/>
                <a:cs typeface="Courier New"/>
              </a:rPr>
              <a:t>version</a:t>
            </a:r>
            <a:endParaRPr baseline="6172" sz="13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57600" y="3670300"/>
            <a:ext cx="1872614" cy="46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Real-time</a:t>
            </a:r>
            <a:r>
              <a:rPr dirty="0" sz="1200" spc="-18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Analytics</a:t>
            </a:r>
            <a:endParaRPr sz="12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dirty="0" baseline="13888" sz="1200">
                <a:latin typeface="Courier New"/>
                <a:cs typeface="Courier New"/>
              </a:rPr>
              <a:t>Live</a:t>
            </a:r>
            <a:r>
              <a:rPr dirty="0" baseline="13888" sz="1200" spc="-30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dashboard</a:t>
            </a:r>
            <a:r>
              <a:rPr dirty="0" sz="1000" spc="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integration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86500" y="3606800"/>
            <a:ext cx="212153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User</a:t>
            </a:r>
            <a:r>
              <a:rPr dirty="0" sz="1200" spc="-29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Feedback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000">
                <a:latin typeface="Courier New"/>
                <a:cs typeface="Courier New"/>
              </a:rPr>
              <a:t>Continuous</a:t>
            </a:r>
            <a:r>
              <a:rPr dirty="0" sz="1000" spc="-30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model</a:t>
            </a:r>
            <a:r>
              <a:rPr dirty="0" sz="1000" spc="-5">
                <a:latin typeface="Courier New"/>
                <a:cs typeface="Courier New"/>
              </a:rPr>
              <a:t> </a:t>
            </a:r>
            <a:r>
              <a:rPr dirty="0" baseline="-5555" sz="1500" spc="-15">
                <a:latin typeface="Courier New"/>
                <a:cs typeface="Courier New"/>
              </a:rPr>
              <a:t>improvement</a:t>
            </a:r>
            <a:endParaRPr baseline="-5555" sz="1500">
              <a:latin typeface="Courier New"/>
              <a:cs typeface="Courier New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482" y="1877099"/>
            <a:ext cx="1819910" cy="4711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900" spc="-320">
                <a:latin typeface="Arial Black"/>
                <a:cs typeface="Arial Black"/>
              </a:rPr>
              <a:t>Thank</a:t>
            </a:r>
            <a:r>
              <a:rPr dirty="0" sz="2900" spc="-220">
                <a:latin typeface="Arial Black"/>
                <a:cs typeface="Arial Black"/>
              </a:rPr>
              <a:t> </a:t>
            </a:r>
            <a:r>
              <a:rPr dirty="0" sz="2900" spc="-400">
                <a:latin typeface="Arial Black"/>
                <a:cs typeface="Arial Black"/>
              </a:rPr>
              <a:t>You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33550" y="2646316"/>
            <a:ext cx="2272665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50" spc="-60">
                <a:latin typeface="Arial Black"/>
                <a:cs typeface="Arial Black"/>
              </a:rPr>
              <a:t>Questions </a:t>
            </a:r>
            <a:r>
              <a:rPr dirty="0" sz="1050" spc="-75">
                <a:latin typeface="Arial Black"/>
                <a:cs typeface="Arial Black"/>
              </a:rPr>
              <a:t>&amp;</a:t>
            </a:r>
            <a:r>
              <a:rPr dirty="0" sz="1050" spc="-175">
                <a:latin typeface="Arial Black"/>
                <a:cs typeface="Arial Black"/>
              </a:rPr>
              <a:t> </a:t>
            </a:r>
            <a:r>
              <a:rPr dirty="0" sz="1050" spc="-50">
                <a:latin typeface="Arial Black"/>
                <a:cs typeface="Arial Black"/>
              </a:rPr>
              <a:t>Discussion</a:t>
            </a:r>
            <a:r>
              <a:rPr dirty="0" sz="1050" spc="5">
                <a:latin typeface="Arial Black"/>
                <a:cs typeface="Arial Black"/>
              </a:rPr>
              <a:t> </a:t>
            </a:r>
            <a:r>
              <a:rPr dirty="0" sz="1050" spc="-25">
                <a:latin typeface="Arial Black"/>
                <a:cs typeface="Arial Black"/>
              </a:rPr>
              <a:t>Welcome</a:t>
            </a:r>
            <a:endParaRPr sz="1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2025-11-25T11:30:04Z</dcterms:created>
  <dcterms:modified xsi:type="dcterms:W3CDTF">2025-11-25T11:30:04Z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Creator">
    <vt:lpwstr>Microsoft Lens</vt:lpwstr>
  </property>
  <property fmtid="{D5CDD505-2E9C-101B-9397-08002B2CF9AE}" pid="4" name="LastSaved">
    <vt:filetime>2025-11-25T00:00:00Z</vt:filetime>
  </property>
</Properties>
</file>